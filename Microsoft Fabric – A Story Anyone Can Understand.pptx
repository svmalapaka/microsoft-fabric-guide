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7" d="100"/>
          <a:sy n="107" d="100"/>
        </p:scale>
        <p:origin x="480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09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sv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5" Type="http://schemas.openxmlformats.org/officeDocument/2006/relationships/image" Target="../media/image53.svg"/><Relationship Id="rId10" Type="http://schemas.openxmlformats.org/officeDocument/2006/relationships/image" Target="../media/image58.svg"/><Relationship Id="rId4" Type="http://schemas.openxmlformats.org/officeDocument/2006/relationships/image" Target="../media/image52.png"/><Relationship Id="rId9" Type="http://schemas.openxmlformats.org/officeDocument/2006/relationships/image" Target="../media/image5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13" Type="http://schemas.openxmlformats.org/officeDocument/2006/relationships/image" Target="../media/image69.svg"/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12" Type="http://schemas.openxmlformats.org/officeDocument/2006/relationships/image" Target="../media/image68.svg"/><Relationship Id="rId17" Type="http://schemas.openxmlformats.org/officeDocument/2006/relationships/image" Target="../media/image73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sv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66.svg"/><Relationship Id="rId4" Type="http://schemas.openxmlformats.org/officeDocument/2006/relationships/image" Target="../media/image60.svg"/><Relationship Id="rId9" Type="http://schemas.openxmlformats.org/officeDocument/2006/relationships/image" Target="../media/image65.svg"/><Relationship Id="rId14" Type="http://schemas.openxmlformats.org/officeDocument/2006/relationships/image" Target="../media/image7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svg"/><Relationship Id="rId11" Type="http://schemas.openxmlformats.org/officeDocument/2006/relationships/image" Target="../media/image82.svg"/><Relationship Id="rId5" Type="http://schemas.openxmlformats.org/officeDocument/2006/relationships/image" Target="../media/image76.svg"/><Relationship Id="rId10" Type="http://schemas.openxmlformats.org/officeDocument/2006/relationships/image" Target="../media/image81.svg"/><Relationship Id="rId4" Type="http://schemas.openxmlformats.org/officeDocument/2006/relationships/image" Target="../media/image75.png"/><Relationship Id="rId9" Type="http://schemas.openxmlformats.org/officeDocument/2006/relationships/image" Target="../media/image8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svg"/><Relationship Id="rId4" Type="http://schemas.openxmlformats.org/officeDocument/2006/relationships/image" Target="../media/image8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30000" t="50000" r="7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9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80000" t="70000" r="20000" b="3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929">
                  <a:alpha val="97000"/>
                </a:srgbClr>
              </a:gs>
              <a:gs pos="55000">
                <a:srgbClr val="0A1929">
                  <a:alpha val="82000"/>
                </a:srgbClr>
              </a:gs>
              <a:gs pos="100000">
                <a:srgbClr val="0A1626">
                  <a:alpha val="9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286500" y="142875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0078D4">
                  <a:alpha val="18000"/>
                </a:srgbClr>
              </a:gs>
              <a:gs pos="45000">
                <a:srgbClr val="00B4D8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57491" y="1499741"/>
            <a:ext cx="2143720" cy="2143720"/>
          </a:xfrm>
          <a:prstGeom prst="ellipse">
            <a:avLst/>
          </a:prstGeom>
          <a:noFill/>
          <a:ln w="9525">
            <a:solidFill>
              <a:srgbClr val="00B4D8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43241" y="1785491"/>
            <a:ext cx="1572220" cy="1572220"/>
          </a:xfrm>
          <a:prstGeom prst="ellipse">
            <a:avLst/>
          </a:prstGeom>
          <a:noFill/>
          <a:ln w="9525">
            <a:solidFill>
              <a:srgbClr val="0078D4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7079" y="2009329"/>
            <a:ext cx="1124843" cy="11248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93930" y="1393329"/>
            <a:ext cx="70991" cy="70991"/>
          </a:xfrm>
          <a:prstGeom prst="ellipse">
            <a:avLst/>
          </a:pr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B4D8">
                <a:alpha val="9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400181" y="1470571"/>
            <a:ext cx="57150" cy="57150"/>
          </a:xfrm>
          <a:prstGeom prst="ellipse">
            <a:avLst/>
          </a:prstGeom>
          <a:gradFill rotWithShape="1">
            <a:gsLst>
              <a:gs pos="0">
                <a:srgbClr val="48CAE4"/>
              </a:gs>
              <a:gs pos="100000">
                <a:srgbClr val="0078D4"/>
              </a:gs>
            </a:gsLst>
            <a:lin ang="2700000" scaled="1"/>
          </a:gradFill>
          <a:ln/>
          <a:effectLst>
            <a:outerShdw blurRad="71120" dist="50800" dir="16200000" algn="bl" rotWithShape="0">
              <a:srgbClr val="48CAE4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407771" y="1692920"/>
            <a:ext cx="43160" cy="43160"/>
          </a:xfrm>
          <a:prstGeom prst="ellipse">
            <a:avLst/>
          </a:prstGeom>
          <a:solidFill>
            <a:srgbClr val="00B4D8"/>
          </a:solidFill>
          <a:ln/>
          <a:effectLst>
            <a:outerShdw blurRad="57150" dist="50800" dir="16200000" algn="bl" rotWithShape="0">
              <a:srgbClr val="00B4D8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0" y="571500"/>
            <a:ext cx="7590" cy="4000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78D4">
                  <a:alpha val="25000"/>
                </a:srgbClr>
              </a:gs>
              <a:gs pos="55000">
                <a:srgbClr val="00B4D8">
                  <a:alpha val="35000"/>
                </a:srgbClr>
              </a:gs>
              <a:gs pos="80000">
                <a:srgbClr val="0078D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" y="1052661"/>
            <a:ext cx="150465" cy="1504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9425" y="1052661"/>
            <a:ext cx="78679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8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790" dirty="0"/>
          </a:p>
        </p:txBody>
      </p:sp>
      <p:sp>
        <p:nvSpPr>
          <p:cNvPr id="16" name="Text 11"/>
          <p:cNvSpPr/>
          <p:nvPr/>
        </p:nvSpPr>
        <p:spPr>
          <a:xfrm>
            <a:off x="1708845" y="1070670"/>
            <a:ext cx="7590" cy="114300"/>
          </a:xfrm>
          <a:prstGeom prst="rect">
            <a:avLst/>
          </a:prstGeom>
          <a:solidFill>
            <a:srgbClr val="90B4CE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1830586" y="1052661"/>
            <a:ext cx="46510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0B4CE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FABRIC</a:t>
            </a:r>
            <a:endParaRPr lang="en-US" sz="790" dirty="0"/>
          </a:p>
        </p:txBody>
      </p:sp>
      <p:sp>
        <p:nvSpPr>
          <p:cNvPr id="18" name="Text 13"/>
          <p:cNvSpPr/>
          <p:nvPr/>
        </p:nvSpPr>
        <p:spPr>
          <a:xfrm>
            <a:off x="628650" y="1460897"/>
            <a:ext cx="51435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78D4"/>
              </a:gs>
              <a:gs pos="60000">
                <a:srgbClr val="00B4D8"/>
              </a:gs>
              <a:gs pos="100000">
                <a:srgbClr val="48CAE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28650" y="1690688"/>
            <a:ext cx="8044434" cy="1240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3"/>
              </a:lnSpc>
              <a:spcAft>
                <a:spcPts val="1130"/>
              </a:spcAft>
              <a:buNone/>
            </a:pPr>
            <a:r>
              <a:rPr lang="en-US" sz="4390" kern="0" spc="-8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</a:t>
            </a:r>
            <a:br/>
            <a:r>
              <a:rPr lang="en-US" sz="4390" kern="0" spc="-8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390" b="1" kern="0" spc="-80" dirty="0">
                <a:gradFill rotWithShape="1">
                  <a:gsLst>
                    <a:gs pos="0">
                      <a:srgbClr val="0078D4"/>
                    </a:gs>
                    <a:gs pos="50000">
                      <a:srgbClr val="00B4D8"/>
                    </a:gs>
                    <a:gs pos="100000">
                      <a:srgbClr val="48CAE4"/>
                    </a:gs>
                  </a:gsLst>
                  <a:lin ang="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Fabric</a:t>
            </a:r>
            <a:endParaRPr lang="en-US" sz="4390" dirty="0"/>
          </a:p>
        </p:txBody>
      </p:sp>
      <p:sp>
        <p:nvSpPr>
          <p:cNvPr id="20" name="Text 15"/>
          <p:cNvSpPr/>
          <p:nvPr/>
        </p:nvSpPr>
        <p:spPr>
          <a:xfrm>
            <a:off x="628650" y="3015853"/>
            <a:ext cx="8438769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spcAft>
                <a:spcPts val="790"/>
              </a:spcAft>
              <a:buNone/>
            </a:pPr>
            <a:r>
              <a:rPr lang="en-US" sz="1580" kern="0" spc="20" dirty="0">
                <a:solidFill>
                  <a:srgbClr val="C8DF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Story Anyone Can Understand</a:t>
            </a:r>
            <a:endParaRPr lang="en-US" sz="1580" dirty="0"/>
          </a:p>
        </p:txBody>
      </p:sp>
      <p:sp>
        <p:nvSpPr>
          <p:cNvPr id="21" name="Text 16"/>
          <p:cNvSpPr/>
          <p:nvPr/>
        </p:nvSpPr>
        <p:spPr>
          <a:xfrm>
            <a:off x="628650" y="3417094"/>
            <a:ext cx="86753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2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Lakes to Real-Time Intelligence — Explained Simply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28650" y="3846314"/>
            <a:ext cx="1246772" cy="244376"/>
          </a:xfrm>
          <a:prstGeom prst="roundRect">
            <a:avLst>
              <a:gd name="adj" fmla="val 58725"/>
            </a:avLst>
          </a:prstGeom>
          <a:solidFill>
            <a:srgbClr val="0078D4">
              <a:alpha val="10000"/>
            </a:srgbClr>
          </a:solidFill>
          <a:ln w="9525">
            <a:solidFill>
              <a:srgbClr val="0078D4">
                <a:alpha val="40000"/>
              </a:srgbClr>
            </a:solidFill>
          </a:ln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730" b="1" kern="0" spc="30" dirty="0">
                <a:solidFill>
                  <a:srgbClr val="9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730" dirty="0"/>
          </a:p>
        </p:txBody>
      </p:sp>
      <p:sp>
        <p:nvSpPr>
          <p:cNvPr id="23" name="Text 18"/>
          <p:cNvSpPr/>
          <p:nvPr/>
        </p:nvSpPr>
        <p:spPr>
          <a:xfrm>
            <a:off x="1937296" y="3846314"/>
            <a:ext cx="1570875" cy="244376"/>
          </a:xfrm>
          <a:prstGeom prst="roundRect">
            <a:avLst>
              <a:gd name="adj" fmla="val 58725"/>
            </a:avLst>
          </a:prstGeom>
          <a:solidFill>
            <a:srgbClr val="00B4D8">
              <a:alpha val="10000"/>
            </a:srgbClr>
          </a:solidFill>
          <a:ln w="9525">
            <a:solidFill>
              <a:srgbClr val="00B4D8">
                <a:alpha val="40000"/>
              </a:srgbClr>
            </a:solidFill>
          </a:ln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730" b="1" kern="0" spc="30" dirty="0">
                <a:solidFill>
                  <a:srgbClr val="7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730" dirty="0"/>
          </a:p>
        </p:txBody>
      </p:sp>
      <p:sp>
        <p:nvSpPr>
          <p:cNvPr id="24" name="Text 19"/>
          <p:cNvSpPr/>
          <p:nvPr/>
        </p:nvSpPr>
        <p:spPr>
          <a:xfrm>
            <a:off x="3563689" y="3846314"/>
            <a:ext cx="761149" cy="244376"/>
          </a:xfrm>
          <a:prstGeom prst="roundRect">
            <a:avLst>
              <a:gd name="adj" fmla="val 58725"/>
            </a:avLst>
          </a:prstGeom>
          <a:solidFill>
            <a:srgbClr val="48CAE4">
              <a:alpha val="8000"/>
            </a:srgbClr>
          </a:solidFill>
          <a:ln w="9525">
            <a:solidFill>
              <a:srgbClr val="48CAE4">
                <a:alpha val="30000"/>
              </a:srgbClr>
            </a:solidFill>
          </a:ln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730" b="1" kern="0" spc="30" dirty="0">
                <a:solidFill>
                  <a:srgbClr val="A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30" dirty="0"/>
          </a:p>
        </p:txBody>
      </p:sp>
      <p:sp>
        <p:nvSpPr>
          <p:cNvPr id="25" name="Text 20"/>
          <p:cNvSpPr/>
          <p:nvPr/>
        </p:nvSpPr>
        <p:spPr>
          <a:xfrm>
            <a:off x="628650" y="4851797"/>
            <a:ext cx="43160" cy="43160"/>
          </a:xfrm>
          <a:prstGeom prst="ellipse">
            <a:avLst/>
          </a:pr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742801" y="4803874"/>
            <a:ext cx="96982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Sastry Malapaka</a:t>
            </a:r>
            <a:endParaRPr lang="en-US" sz="730" dirty="0"/>
          </a:p>
        </p:txBody>
      </p:sp>
      <p:sp>
        <p:nvSpPr>
          <p:cNvPr id="27" name="Text 22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78D4"/>
              </a:gs>
              <a:gs pos="55000">
                <a:srgbClr val="00B4D8"/>
              </a:gs>
              <a:gs pos="78000">
                <a:srgbClr val="48CAE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86030" y="0"/>
            <a:ext cx="1857970" cy="1857970"/>
          </a:xfrm>
          <a:prstGeom prst="ellipse">
            <a:avLst/>
          </a:prstGeom>
          <a:gradFill rotWithShape="1">
            <a:gsLst>
              <a:gs pos="0">
                <a:srgbClr val="0078D4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714750"/>
            <a:ext cx="1428750" cy="1428750"/>
          </a:xfrm>
          <a:prstGeom prst="ellipse">
            <a:avLst/>
          </a:prstGeom>
          <a:gradFill rotWithShape="1">
            <a:gsLst>
              <a:gs pos="0">
                <a:srgbClr val="0078D4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5250" y="2308324"/>
            <a:ext cx="128647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0" y="2365325"/>
            <a:ext cx="85725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0" y="2422327"/>
            <a:ext cx="142875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0" y="2479328"/>
            <a:ext cx="642491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5250" y="2536329"/>
            <a:ext cx="107186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15250" y="2593330"/>
            <a:ext cx="78611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15250" y="2650331"/>
            <a:ext cx="1213991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15250" y="2707332"/>
            <a:ext cx="57150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15250" y="2764334"/>
            <a:ext cx="10007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15250" y="2821335"/>
            <a:ext cx="142875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78D4">
                  <a:alpha val="9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725" y="1328906"/>
            <a:ext cx="29170" cy="1275007"/>
          </a:xfrm>
          <a:custGeom>
            <a:avLst/>
            <a:gdLst/>
            <a:ahLst/>
            <a:cxnLst/>
            <a:rect l="l" t="t" r="r" b="b"/>
            <a:pathLst>
              <a:path w="29170" h="1275007">
                <a:moveTo>
                  <a:pt x="0" y="0"/>
                </a:moveTo>
                <a:lnTo>
                  <a:pt x="15200" y="0"/>
                </a:lnTo>
                <a:lnTo>
                  <a:pt x="15200" y="0"/>
                </a:lnTo>
                <a:lnTo>
                  <a:pt x="17926" y="268"/>
                </a:lnTo>
                <a:lnTo>
                  <a:pt x="20546" y="1063"/>
                </a:lnTo>
                <a:lnTo>
                  <a:pt x="22962" y="2354"/>
                </a:lnTo>
                <a:lnTo>
                  <a:pt x="25079" y="4092"/>
                </a:lnTo>
                <a:lnTo>
                  <a:pt x="26816" y="6209"/>
                </a:lnTo>
                <a:lnTo>
                  <a:pt x="28107" y="8624"/>
                </a:lnTo>
                <a:lnTo>
                  <a:pt x="28902" y="11245"/>
                </a:lnTo>
                <a:lnTo>
                  <a:pt x="29170" y="13970"/>
                </a:lnTo>
                <a:lnTo>
                  <a:pt x="29170" y="1261037"/>
                </a:lnTo>
                <a:lnTo>
                  <a:pt x="29170" y="1261037"/>
                </a:lnTo>
                <a:lnTo>
                  <a:pt x="28902" y="1263762"/>
                </a:lnTo>
                <a:lnTo>
                  <a:pt x="28107" y="1266383"/>
                </a:lnTo>
                <a:lnTo>
                  <a:pt x="26816" y="1268798"/>
                </a:lnTo>
                <a:lnTo>
                  <a:pt x="25079" y="1270915"/>
                </a:lnTo>
                <a:lnTo>
                  <a:pt x="22962" y="1272653"/>
                </a:lnTo>
                <a:lnTo>
                  <a:pt x="20546" y="1273944"/>
                </a:lnTo>
                <a:lnTo>
                  <a:pt x="17926" y="1274739"/>
                </a:lnTo>
                <a:lnTo>
                  <a:pt x="15200" y="1275007"/>
                </a:lnTo>
                <a:lnTo>
                  <a:pt x="0" y="1275007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50A8F5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97966" y="1013946"/>
            <a:ext cx="714970" cy="714970"/>
          </a:xfrm>
          <a:prstGeom prst="ellipse">
            <a:avLst/>
          </a:prstGeom>
          <a:gradFill rotWithShape="1">
            <a:gsLst>
              <a:gs pos="0">
                <a:srgbClr val="0078D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45521" y="1328906"/>
            <a:ext cx="29170" cy="1275007"/>
          </a:xfrm>
          <a:custGeom>
            <a:avLst/>
            <a:gdLst/>
            <a:ahLst/>
            <a:cxnLst/>
            <a:rect l="l" t="t" r="r" b="b"/>
            <a:pathLst>
              <a:path w="29170" h="1275007">
                <a:moveTo>
                  <a:pt x="0" y="0"/>
                </a:moveTo>
                <a:lnTo>
                  <a:pt x="15200" y="0"/>
                </a:lnTo>
                <a:lnTo>
                  <a:pt x="15200" y="0"/>
                </a:lnTo>
                <a:lnTo>
                  <a:pt x="17926" y="268"/>
                </a:lnTo>
                <a:lnTo>
                  <a:pt x="20546" y="1063"/>
                </a:lnTo>
                <a:lnTo>
                  <a:pt x="22962" y="2354"/>
                </a:lnTo>
                <a:lnTo>
                  <a:pt x="25079" y="4092"/>
                </a:lnTo>
                <a:lnTo>
                  <a:pt x="26816" y="6209"/>
                </a:lnTo>
                <a:lnTo>
                  <a:pt x="28107" y="8624"/>
                </a:lnTo>
                <a:lnTo>
                  <a:pt x="28902" y="11245"/>
                </a:lnTo>
                <a:lnTo>
                  <a:pt x="29170" y="13970"/>
                </a:lnTo>
                <a:lnTo>
                  <a:pt x="29170" y="1261037"/>
                </a:lnTo>
                <a:lnTo>
                  <a:pt x="29170" y="1261037"/>
                </a:lnTo>
                <a:lnTo>
                  <a:pt x="28902" y="1263762"/>
                </a:lnTo>
                <a:lnTo>
                  <a:pt x="28107" y="1266383"/>
                </a:lnTo>
                <a:lnTo>
                  <a:pt x="26816" y="1268798"/>
                </a:lnTo>
                <a:lnTo>
                  <a:pt x="25079" y="1270915"/>
                </a:lnTo>
                <a:lnTo>
                  <a:pt x="22962" y="1272653"/>
                </a:lnTo>
                <a:lnTo>
                  <a:pt x="20546" y="1273944"/>
                </a:lnTo>
                <a:lnTo>
                  <a:pt x="17926" y="1274739"/>
                </a:lnTo>
                <a:lnTo>
                  <a:pt x="15200" y="1275007"/>
                </a:lnTo>
                <a:lnTo>
                  <a:pt x="0" y="1275007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50A8F5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76915" y="1013946"/>
            <a:ext cx="714970" cy="714970"/>
          </a:xfrm>
          <a:prstGeom prst="ellipse">
            <a:avLst/>
          </a:prstGeom>
          <a:gradFill rotWithShape="1">
            <a:gsLst>
              <a:gs pos="0">
                <a:srgbClr val="0078D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6725" y="2951728"/>
            <a:ext cx="29170" cy="1275007"/>
          </a:xfrm>
          <a:custGeom>
            <a:avLst/>
            <a:gdLst/>
            <a:ahLst/>
            <a:cxnLst/>
            <a:rect l="l" t="t" r="r" b="b"/>
            <a:pathLst>
              <a:path w="29170" h="1275007">
                <a:moveTo>
                  <a:pt x="0" y="0"/>
                </a:moveTo>
                <a:lnTo>
                  <a:pt x="15200" y="0"/>
                </a:lnTo>
                <a:lnTo>
                  <a:pt x="15200" y="0"/>
                </a:lnTo>
                <a:lnTo>
                  <a:pt x="17926" y="268"/>
                </a:lnTo>
                <a:lnTo>
                  <a:pt x="20546" y="1063"/>
                </a:lnTo>
                <a:lnTo>
                  <a:pt x="22962" y="2354"/>
                </a:lnTo>
                <a:lnTo>
                  <a:pt x="25079" y="4092"/>
                </a:lnTo>
                <a:lnTo>
                  <a:pt x="26816" y="6209"/>
                </a:lnTo>
                <a:lnTo>
                  <a:pt x="28107" y="8624"/>
                </a:lnTo>
                <a:lnTo>
                  <a:pt x="28902" y="11245"/>
                </a:lnTo>
                <a:lnTo>
                  <a:pt x="29170" y="13970"/>
                </a:lnTo>
                <a:lnTo>
                  <a:pt x="29170" y="1261037"/>
                </a:lnTo>
                <a:lnTo>
                  <a:pt x="29170" y="1261037"/>
                </a:lnTo>
                <a:lnTo>
                  <a:pt x="28902" y="1263762"/>
                </a:lnTo>
                <a:lnTo>
                  <a:pt x="28107" y="1266383"/>
                </a:lnTo>
                <a:lnTo>
                  <a:pt x="26816" y="1268798"/>
                </a:lnTo>
                <a:lnTo>
                  <a:pt x="25079" y="1270915"/>
                </a:lnTo>
                <a:lnTo>
                  <a:pt x="22962" y="1272653"/>
                </a:lnTo>
                <a:lnTo>
                  <a:pt x="20546" y="1273944"/>
                </a:lnTo>
                <a:lnTo>
                  <a:pt x="17926" y="1274739"/>
                </a:lnTo>
                <a:lnTo>
                  <a:pt x="15200" y="1275007"/>
                </a:lnTo>
                <a:lnTo>
                  <a:pt x="0" y="1275007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50A8F5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97966" y="2636768"/>
            <a:ext cx="714970" cy="714970"/>
          </a:xfrm>
          <a:prstGeom prst="ellipse">
            <a:avLst/>
          </a:prstGeom>
          <a:gradFill rotWithShape="1">
            <a:gsLst>
              <a:gs pos="0">
                <a:srgbClr val="0078D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45521" y="2951728"/>
            <a:ext cx="29170" cy="1275007"/>
          </a:xfrm>
          <a:custGeom>
            <a:avLst/>
            <a:gdLst/>
            <a:ahLst/>
            <a:cxnLst/>
            <a:rect l="l" t="t" r="r" b="b"/>
            <a:pathLst>
              <a:path w="29170" h="1275007">
                <a:moveTo>
                  <a:pt x="0" y="0"/>
                </a:moveTo>
                <a:lnTo>
                  <a:pt x="15200" y="0"/>
                </a:lnTo>
                <a:lnTo>
                  <a:pt x="15200" y="0"/>
                </a:lnTo>
                <a:lnTo>
                  <a:pt x="17926" y="268"/>
                </a:lnTo>
                <a:lnTo>
                  <a:pt x="20546" y="1063"/>
                </a:lnTo>
                <a:lnTo>
                  <a:pt x="22962" y="2354"/>
                </a:lnTo>
                <a:lnTo>
                  <a:pt x="25079" y="4092"/>
                </a:lnTo>
                <a:lnTo>
                  <a:pt x="26816" y="6209"/>
                </a:lnTo>
                <a:lnTo>
                  <a:pt x="28107" y="8624"/>
                </a:lnTo>
                <a:lnTo>
                  <a:pt x="28902" y="11245"/>
                </a:lnTo>
                <a:lnTo>
                  <a:pt x="29170" y="13970"/>
                </a:lnTo>
                <a:lnTo>
                  <a:pt x="29170" y="1261037"/>
                </a:lnTo>
                <a:lnTo>
                  <a:pt x="29170" y="1261037"/>
                </a:lnTo>
                <a:lnTo>
                  <a:pt x="28902" y="1263762"/>
                </a:lnTo>
                <a:lnTo>
                  <a:pt x="28107" y="1266383"/>
                </a:lnTo>
                <a:lnTo>
                  <a:pt x="26816" y="1268798"/>
                </a:lnTo>
                <a:lnTo>
                  <a:pt x="25079" y="1270915"/>
                </a:lnTo>
                <a:lnTo>
                  <a:pt x="22962" y="1272653"/>
                </a:lnTo>
                <a:lnTo>
                  <a:pt x="20546" y="1273944"/>
                </a:lnTo>
                <a:lnTo>
                  <a:pt x="17926" y="1274739"/>
                </a:lnTo>
                <a:lnTo>
                  <a:pt x="15200" y="1275007"/>
                </a:lnTo>
                <a:lnTo>
                  <a:pt x="0" y="1275007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50A8F5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76915" y="2636768"/>
            <a:ext cx="714970" cy="714970"/>
          </a:xfrm>
          <a:prstGeom prst="ellipse">
            <a:avLst/>
          </a:prstGeom>
          <a:gradFill rotWithShape="1">
            <a:gsLst>
              <a:gs pos="0">
                <a:srgbClr val="0078D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314920"/>
            <a:ext cx="37207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78D4"/>
              </a:gs>
              <a:gs pos="100000">
                <a:srgbClr val="50A8F5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430411"/>
            <a:ext cx="315100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spcAft>
                <a:spcPts val="340"/>
              </a:spcAft>
              <a:buNone/>
            </a:pPr>
            <a:r>
              <a:rPr lang="en-US" sz="2360" kern="0" spc="-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All Starts With </a:t>
            </a:r>
            <a:r>
              <a:rPr lang="en-US" sz="2360" b="1" kern="0" spc="-30" dirty="0">
                <a:solidFill>
                  <a:srgbClr val="50A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</a:t>
            </a:r>
            <a:endParaRPr lang="en-US" sz="2360" dirty="0"/>
          </a:p>
        </p:txBody>
      </p:sp>
      <p:sp>
        <p:nvSpPr>
          <p:cNvPr id="26" name="Text 24"/>
          <p:cNvSpPr/>
          <p:nvPr/>
        </p:nvSpPr>
        <p:spPr>
          <a:xfrm>
            <a:off x="457200" y="803225"/>
            <a:ext cx="313621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kern="0" spc="1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every second, generates data.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457200" y="1219051"/>
            <a:ext cx="4050655" cy="1494681"/>
          </a:xfrm>
          <a:prstGeom prst="roundRect">
            <a:avLst>
              <a:gd name="adj" fmla="val 6712"/>
            </a:avLst>
          </a:prstGeom>
          <a:solidFill>
            <a:srgbClr val="F0F6FF"/>
          </a:solidFill>
          <a:ln w="9525">
            <a:solidFill>
              <a:srgbClr val="0078D4">
                <a:alpha val="12000"/>
              </a:srgbClr>
            </a:solidFill>
          </a:ln>
          <a:effectLst>
            <a:outerShdw blurRad="171450" dist="29210" dir="5400000" algn="bl" rotWithShape="0">
              <a:srgbClr val="000000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7345" y="1751707"/>
            <a:ext cx="429220" cy="429220"/>
          </a:xfrm>
          <a:prstGeom prst="roundRect">
            <a:avLst>
              <a:gd name="adj" fmla="val 23375"/>
            </a:avLst>
          </a:prstGeom>
          <a:gradFill rotWithShape="1">
            <a:gsLst>
              <a:gs pos="0">
                <a:srgbClr val="0078D4"/>
              </a:gs>
              <a:gs pos="100000">
                <a:srgbClr val="005FA3"/>
              </a:gs>
            </a:gsLst>
            <a:lin ang="2700000" scaled="1"/>
          </a:gradFill>
          <a:ln/>
          <a:effectLst>
            <a:outerShdw blurRad="114300" dist="29210" dir="5400000" algn="bl" rotWithShape="0">
              <a:srgbClr val="0078D4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439" y="1885801"/>
            <a:ext cx="160883" cy="16088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54026" y="1786682"/>
            <a:ext cx="1922949" cy="179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6"/>
              </a:lnSpc>
              <a:buNone/>
            </a:pPr>
            <a:r>
              <a:rPr lang="en-US" sz="118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Gas Station Payment</a:t>
            </a:r>
            <a:endParaRPr lang="en-US" sz="1180" dirty="0"/>
          </a:p>
        </p:txBody>
      </p:sp>
      <p:sp>
        <p:nvSpPr>
          <p:cNvPr id="31" name="Text 28"/>
          <p:cNvSpPr/>
          <p:nvPr/>
        </p:nvSpPr>
        <p:spPr>
          <a:xfrm>
            <a:off x="1254026" y="1995636"/>
            <a:ext cx="192294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4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swipe logs a transaction instantly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4635996" y="1219051"/>
            <a:ext cx="4050804" cy="1494681"/>
          </a:xfrm>
          <a:prstGeom prst="roundRect">
            <a:avLst>
              <a:gd name="adj" fmla="val 6712"/>
            </a:avLst>
          </a:prstGeom>
          <a:solidFill>
            <a:srgbClr val="F0F6FF"/>
          </a:solidFill>
          <a:ln w="9525">
            <a:solidFill>
              <a:srgbClr val="0078D4">
                <a:alpha val="12000"/>
              </a:srgbClr>
            </a:solidFill>
          </a:ln>
          <a:effectLst>
            <a:outerShdw blurRad="171450" dist="29210" dir="5400000" algn="bl" rotWithShape="0">
              <a:srgbClr val="000000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46141" y="1751707"/>
            <a:ext cx="429220" cy="429220"/>
          </a:xfrm>
          <a:prstGeom prst="roundRect">
            <a:avLst>
              <a:gd name="adj" fmla="val 23375"/>
            </a:avLst>
          </a:prstGeom>
          <a:gradFill rotWithShape="1">
            <a:gsLst>
              <a:gs pos="0">
                <a:srgbClr val="0078D4"/>
              </a:gs>
              <a:gs pos="100000">
                <a:srgbClr val="005FA3"/>
              </a:gs>
            </a:gsLst>
            <a:lin ang="2700000" scaled="1"/>
          </a:gradFill>
          <a:ln/>
          <a:effectLst>
            <a:outerShdw blurRad="114300" dist="29210" dir="5400000" algn="bl" rotWithShape="0">
              <a:srgbClr val="0078D4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0236" y="1885801"/>
            <a:ext cx="160883" cy="16088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432822" y="1786682"/>
            <a:ext cx="2418829" cy="179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6"/>
              </a:lnSpc>
              <a:buNone/>
            </a:pPr>
            <a:r>
              <a:rPr lang="en-US" sz="118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Doctor Visit Records</a:t>
            </a:r>
            <a:endParaRPr lang="en-US" sz="1180" dirty="0"/>
          </a:p>
        </p:txBody>
      </p:sp>
      <p:sp>
        <p:nvSpPr>
          <p:cNvPr id="36" name="Text 32"/>
          <p:cNvSpPr/>
          <p:nvPr/>
        </p:nvSpPr>
        <p:spPr>
          <a:xfrm>
            <a:off x="5432822" y="1995636"/>
            <a:ext cx="241882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4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Diagnoses, prescriptions, test results — all stored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57200" y="2841873"/>
            <a:ext cx="4050655" cy="1494681"/>
          </a:xfrm>
          <a:prstGeom prst="roundRect">
            <a:avLst>
              <a:gd name="adj" fmla="val 6712"/>
            </a:avLst>
          </a:prstGeom>
          <a:solidFill>
            <a:srgbClr val="F0F6FF"/>
          </a:solidFill>
          <a:ln w="9525">
            <a:solidFill>
              <a:srgbClr val="0078D4">
                <a:alpha val="12000"/>
              </a:srgbClr>
            </a:solidFill>
          </a:ln>
          <a:effectLst>
            <a:outerShdw blurRad="171450" dist="29210" dir="5400000" algn="bl" rotWithShape="0">
              <a:srgbClr val="000000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667345" y="3374529"/>
            <a:ext cx="429220" cy="429220"/>
          </a:xfrm>
          <a:prstGeom prst="roundRect">
            <a:avLst>
              <a:gd name="adj" fmla="val 23375"/>
            </a:avLst>
          </a:prstGeom>
          <a:gradFill rotWithShape="1">
            <a:gsLst>
              <a:gs pos="0">
                <a:srgbClr val="0078D4"/>
              </a:gs>
              <a:gs pos="100000">
                <a:srgbClr val="005FA3"/>
              </a:gs>
            </a:gsLst>
            <a:lin ang="2700000" scaled="1"/>
          </a:gradFill>
          <a:ln/>
          <a:effectLst>
            <a:outerShdw blurRad="114300" dist="29210" dir="5400000" algn="bl" rotWithShape="0">
              <a:srgbClr val="0078D4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439" y="3508623"/>
            <a:ext cx="160883" cy="16088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254026" y="3409504"/>
            <a:ext cx="2533590" cy="179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6"/>
              </a:lnSpc>
              <a:buNone/>
            </a:pPr>
            <a:r>
              <a:rPr lang="en-US" sz="118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Grocery Store Scan</a:t>
            </a:r>
            <a:endParaRPr lang="en-US" sz="1180" dirty="0"/>
          </a:p>
        </p:txBody>
      </p:sp>
      <p:sp>
        <p:nvSpPr>
          <p:cNvPr id="41" name="Text 36"/>
          <p:cNvSpPr/>
          <p:nvPr/>
        </p:nvSpPr>
        <p:spPr>
          <a:xfrm>
            <a:off x="1254026" y="3618458"/>
            <a:ext cx="25335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4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pricing, and purchasing patterns captured</a:t>
            </a:r>
            <a:endParaRPr lang="en-US" sz="790" dirty="0"/>
          </a:p>
        </p:txBody>
      </p:sp>
      <p:sp>
        <p:nvSpPr>
          <p:cNvPr id="42" name="Text 37"/>
          <p:cNvSpPr/>
          <p:nvPr/>
        </p:nvSpPr>
        <p:spPr>
          <a:xfrm>
            <a:off x="4635996" y="2841873"/>
            <a:ext cx="4050804" cy="1494681"/>
          </a:xfrm>
          <a:prstGeom prst="roundRect">
            <a:avLst>
              <a:gd name="adj" fmla="val 6712"/>
            </a:avLst>
          </a:prstGeom>
          <a:solidFill>
            <a:srgbClr val="F0F6FF"/>
          </a:solidFill>
          <a:ln w="9525">
            <a:solidFill>
              <a:srgbClr val="0078D4">
                <a:alpha val="12000"/>
              </a:srgbClr>
            </a:solidFill>
          </a:ln>
          <a:effectLst>
            <a:outerShdw blurRad="171450" dist="29210" dir="5400000" algn="bl" rotWithShape="0">
              <a:srgbClr val="000000">
                <a:alpha val="13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4846141" y="3374529"/>
            <a:ext cx="429220" cy="429220"/>
          </a:xfrm>
          <a:prstGeom prst="roundRect">
            <a:avLst>
              <a:gd name="adj" fmla="val 23375"/>
            </a:avLst>
          </a:prstGeom>
          <a:gradFill rotWithShape="1">
            <a:gsLst>
              <a:gs pos="0">
                <a:srgbClr val="0078D4"/>
              </a:gs>
              <a:gs pos="100000">
                <a:srgbClr val="005FA3"/>
              </a:gs>
            </a:gsLst>
            <a:lin ang="2700000" scaled="1"/>
          </a:gradFill>
          <a:ln/>
          <a:effectLst>
            <a:outerShdw blurRad="114300" dist="29210" dir="5400000" algn="bl" rotWithShape="0">
              <a:srgbClr val="0078D4">
                <a:alpha val="3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0236" y="3508623"/>
            <a:ext cx="160883" cy="160883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432822" y="3409504"/>
            <a:ext cx="2568788" cy="179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6"/>
              </a:lnSpc>
              <a:buNone/>
            </a:pPr>
            <a:r>
              <a:rPr lang="en-US" sz="118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Tap, Click &amp; Text</a:t>
            </a:r>
            <a:endParaRPr lang="en-US" sz="1180" dirty="0"/>
          </a:p>
        </p:txBody>
      </p:sp>
      <p:sp>
        <p:nvSpPr>
          <p:cNvPr id="46" name="Text 40"/>
          <p:cNvSpPr/>
          <p:nvPr/>
        </p:nvSpPr>
        <p:spPr>
          <a:xfrm>
            <a:off x="5432822" y="3618458"/>
            <a:ext cx="256878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4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generates thousands of data points daily</a:t>
            </a:r>
            <a:endParaRPr lang="en-US" sz="790" dirty="0"/>
          </a:p>
        </p:txBody>
      </p:sp>
      <p:sp>
        <p:nvSpPr>
          <p:cNvPr id="47" name="Text 41"/>
          <p:cNvSpPr/>
          <p:nvPr/>
        </p:nvSpPr>
        <p:spPr>
          <a:xfrm>
            <a:off x="457200" y="4480024"/>
            <a:ext cx="8229600" cy="434876"/>
          </a:xfrm>
          <a:prstGeom prst="roundRect">
            <a:avLst>
              <a:gd name="adj" fmla="val 16354"/>
            </a:avLst>
          </a:prstGeom>
          <a:gradFill rotWithShape="1">
            <a:gsLst>
              <a:gs pos="0">
                <a:srgbClr val="0078D4">
                  <a:alpha val="18000"/>
                </a:srgbClr>
              </a:gs>
              <a:gs pos="100000">
                <a:srgbClr val="0078D4">
                  <a:alpha val="6000"/>
                </a:srgbClr>
              </a:gs>
            </a:gsLst>
            <a:lin ang="0" scaled="1"/>
          </a:gradFill>
          <a:ln w="9525">
            <a:solidFill>
              <a:srgbClr val="0078D4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345" y="4627959"/>
            <a:ext cx="139005" cy="139005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906661" y="4589859"/>
            <a:ext cx="408557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do you </a:t>
            </a:r>
            <a:r>
              <a:rPr lang="en-US" sz="1130" b="1" kern="0" spc="10" dirty="0">
                <a:solidFill>
                  <a:srgbClr val="50A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put it all</a:t>
            </a:r>
            <a:r>
              <a:rPr lang="en-US" sz="1130" kern="0" spc="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and what do you </a:t>
            </a:r>
            <a:r>
              <a:rPr lang="en-US" sz="1130" b="1" kern="0" spc="10" dirty="0">
                <a:solidFill>
                  <a:srgbClr val="50A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 with it?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4530" y="0"/>
            <a:ext cx="2429470" cy="2143720"/>
          </a:xfrm>
          <a:prstGeom prst="ellipse">
            <a:avLst/>
          </a:prstGeom>
          <a:gradFill rotWithShape="1">
            <a:gsLst>
              <a:gs pos="0">
                <a:srgbClr val="0078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571280"/>
            <a:ext cx="1714500" cy="1572220"/>
          </a:xfrm>
          <a:prstGeom prst="ellipse">
            <a:avLst/>
          </a:prstGeom>
          <a:gradFill rotWithShape="1">
            <a:gsLst>
              <a:gs pos="0">
                <a:srgbClr val="0078D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67870" y="1085255"/>
            <a:ext cx="3837384" cy="21580"/>
          </a:xfrm>
          <a:custGeom>
            <a:avLst/>
            <a:gdLst/>
            <a:ahLst/>
            <a:cxnLst/>
            <a:rect l="l" t="t" r="r" b="b"/>
            <a:pathLst>
              <a:path w="3837384" h="21580">
                <a:moveTo>
                  <a:pt x="114300" y="0"/>
                </a:moveTo>
                <a:lnTo>
                  <a:pt x="3723084" y="0"/>
                </a:lnTo>
                <a:lnTo>
                  <a:pt x="3747770" y="2698"/>
                </a:lnTo>
                <a:lnTo>
                  <a:pt x="3757786" y="5395"/>
                </a:lnTo>
                <a:lnTo>
                  <a:pt x="3765327" y="8093"/>
                </a:lnTo>
                <a:lnTo>
                  <a:pt x="3771563" y="10790"/>
                </a:lnTo>
                <a:lnTo>
                  <a:pt x="3776948" y="13488"/>
                </a:lnTo>
                <a:lnTo>
                  <a:pt x="3781718" y="16185"/>
                </a:lnTo>
                <a:lnTo>
                  <a:pt x="3786013" y="18883"/>
                </a:lnTo>
                <a:lnTo>
                  <a:pt x="378992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9220" y="314920"/>
            <a:ext cx="91141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3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ATTEMPTS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429220" y="497086"/>
            <a:ext cx="886554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spcAft>
                <a:spcPts val="23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Spreadsheets</a:t>
            </a:r>
            <a:r>
              <a:rPr lang="en-US" sz="225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vs. </a:t>
            </a:r>
            <a:r>
              <a:rPr lang="en-US" sz="22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29220" y="896689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78D4"/>
              </a:gs>
              <a:gs pos="100000">
                <a:srgbClr val="2196F3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9220" y="1075730"/>
            <a:ext cx="3856434" cy="3291632"/>
          </a:xfrm>
          <a:prstGeom prst="roundRect">
            <a:avLst>
              <a:gd name="adj" fmla="val 3472"/>
            </a:avLst>
          </a:prstGeom>
          <a:gradFill rotWithShape="1">
            <a:gsLst>
              <a:gs pos="0">
                <a:srgbClr val="1D4873"/>
              </a:gs>
              <a:gs pos="100000">
                <a:srgbClr val="163959"/>
              </a:gs>
            </a:gsLst>
            <a:lin ang="3300000" scaled="1"/>
          </a:gradFill>
          <a:ln w="9525">
            <a:solidFill>
              <a:srgbClr val="0078D4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3355" y="128587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498" y="1382018"/>
            <a:ext cx="150465" cy="15046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82576" y="1328738"/>
            <a:ext cx="115285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14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Spreadsheet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3355" y="1743075"/>
            <a:ext cx="3408164" cy="759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53355" y="1864965"/>
            <a:ext cx="200620" cy="20062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297" y="1898907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0296" y="1886099"/>
            <a:ext cx="117740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small data</a:t>
            </a:r>
            <a:endParaRPr lang="en-US" sz="960" dirty="0"/>
          </a:p>
        </p:txBody>
      </p:sp>
      <p:sp>
        <p:nvSpPr>
          <p:cNvPr id="18" name="Text 14"/>
          <p:cNvSpPr/>
          <p:nvPr/>
        </p:nvSpPr>
        <p:spPr>
          <a:xfrm>
            <a:off x="653355" y="2144316"/>
            <a:ext cx="200620" cy="20062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297" y="2178257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0296" y="2165449"/>
            <a:ext cx="1900520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 — anyone can start</a:t>
            </a:r>
            <a:endParaRPr lang="en-US" sz="960" dirty="0"/>
          </a:p>
        </p:txBody>
      </p:sp>
      <p:sp>
        <p:nvSpPr>
          <p:cNvPr id="21" name="Text 16"/>
          <p:cNvSpPr/>
          <p:nvPr/>
        </p:nvSpPr>
        <p:spPr>
          <a:xfrm>
            <a:off x="653355" y="2423666"/>
            <a:ext cx="200620" cy="200620"/>
          </a:xfrm>
          <a:prstGeom prst="ellipse">
            <a:avLst/>
          </a:prstGeom>
          <a:solidFill>
            <a:srgbClr val="F87171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7297" y="2457608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0296" y="2444800"/>
            <a:ext cx="204163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at scale — millions of rows</a:t>
            </a:r>
            <a:endParaRPr lang="en-US" sz="960" dirty="0"/>
          </a:p>
        </p:txBody>
      </p:sp>
      <p:sp>
        <p:nvSpPr>
          <p:cNvPr id="24" name="Text 18"/>
          <p:cNvSpPr/>
          <p:nvPr/>
        </p:nvSpPr>
        <p:spPr>
          <a:xfrm>
            <a:off x="653355" y="2703016"/>
            <a:ext cx="200620" cy="200620"/>
          </a:xfrm>
          <a:prstGeom prst="ellipse">
            <a:avLst/>
          </a:prstGeom>
          <a:solidFill>
            <a:srgbClr val="F87171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297" y="2736958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40296" y="2724150"/>
            <a:ext cx="225822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at a time — no collaboration</a:t>
            </a:r>
            <a:endParaRPr lang="en-US" sz="960" dirty="0"/>
          </a:p>
        </p:txBody>
      </p:sp>
      <p:sp>
        <p:nvSpPr>
          <p:cNvPr id="27" name="Text 20"/>
          <p:cNvSpPr/>
          <p:nvPr/>
        </p:nvSpPr>
        <p:spPr>
          <a:xfrm>
            <a:off x="653355" y="3669953"/>
            <a:ext cx="3408164" cy="531927"/>
          </a:xfrm>
          <a:prstGeom prst="roundRect">
            <a:avLst>
              <a:gd name="adj" fmla="val 10744"/>
            </a:avLst>
          </a:prstGeom>
          <a:solidFill>
            <a:srgbClr val="000000">
              <a:alpha val="15000"/>
            </a:srgbClr>
          </a:solidFill>
          <a:ln/>
        </p:spPr>
        <p:txBody>
          <a:bodyPr wrap="square" lIns="100330" tIns="71120" rIns="100330" bIns="71120" rtlCol="0" anchor="t"/>
          <a:lstStyle/>
          <a:p>
            <a:pPr marL="0" indent="0" algn="l">
              <a:buNone/>
            </a:pPr>
            <a:r>
              <a:rPr lang="en-US" sz="680" kern="0" spc="68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CAPACITY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thousands of rows</a:t>
            </a:r>
            <a:endParaRPr lang="en-US" sz="680" dirty="0"/>
          </a:p>
        </p:txBody>
      </p:sp>
      <p:sp>
        <p:nvSpPr>
          <p:cNvPr id="28" name="Text 21"/>
          <p:cNvSpPr/>
          <p:nvPr/>
        </p:nvSpPr>
        <p:spPr>
          <a:xfrm>
            <a:off x="753666" y="3913584"/>
            <a:ext cx="3207544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753666" y="3913584"/>
            <a:ext cx="705594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22C55E"/>
              </a:gs>
              <a:gs pos="100000">
                <a:srgbClr val="86EFA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4414540" y="2564011"/>
            <a:ext cx="314920" cy="346412"/>
          </a:xfrm>
          <a:prstGeom prst="ellipse">
            <a:avLst/>
          </a:prstGeom>
          <a:gradFill rotWithShape="1">
            <a:gsLst>
              <a:gs pos="0">
                <a:srgbClr val="0078D4"/>
              </a:gs>
              <a:gs pos="100000">
                <a:srgbClr val="38BDF8"/>
              </a:gs>
            </a:gsLst>
            <a:lin ang="2700000" scaled="1"/>
          </a:gradFill>
          <a:ln/>
          <a:effectLst>
            <a:outerShdw blurRad="128270" dist="50800" dir="16200000" algn="bl" rotWithShape="0">
              <a:srgbClr val="0078D4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3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30" dirty="0"/>
          </a:p>
        </p:txBody>
      </p:sp>
      <p:sp>
        <p:nvSpPr>
          <p:cNvPr id="31" name="Text 24"/>
          <p:cNvSpPr/>
          <p:nvPr/>
        </p:nvSpPr>
        <p:spPr>
          <a:xfrm>
            <a:off x="4858345" y="1075730"/>
            <a:ext cx="3856434" cy="3291632"/>
          </a:xfrm>
          <a:prstGeom prst="roundRect">
            <a:avLst>
              <a:gd name="adj" fmla="val 3472"/>
            </a:avLst>
          </a:prstGeom>
          <a:gradFill rotWithShape="1">
            <a:gsLst>
              <a:gs pos="0">
                <a:srgbClr val="0F3D6B"/>
              </a:gs>
              <a:gs pos="100000">
                <a:srgbClr val="0C2E52"/>
              </a:gs>
            </a:gsLst>
            <a:lin ang="3300000" scaled="1"/>
          </a:gradFill>
          <a:ln w="9525">
            <a:solidFill>
              <a:srgbClr val="0078D4">
                <a:alpha val="45000"/>
              </a:srgbClr>
            </a:solidFill>
          </a:ln>
          <a:effectLst>
            <a:outerShdw blurRad="228600" dist="50800" dir="16200000" algn="bl" rotWithShape="0">
              <a:srgbClr val="0078D4">
                <a:alpha val="12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5082480" y="128587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78623" y="1382018"/>
            <a:ext cx="150465" cy="15046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11701" y="1328738"/>
            <a:ext cx="8537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14" dirty="0">
                <a:solidFill>
                  <a:srgbClr val="A8D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5082480" y="1743075"/>
            <a:ext cx="3408164" cy="7590"/>
          </a:xfrm>
          <a:prstGeom prst="rect">
            <a:avLst/>
          </a:prstGeom>
          <a:solidFill>
            <a:srgbClr val="0078D4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5082480" y="1864965"/>
            <a:ext cx="200620" cy="20062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6422" y="1898907"/>
            <a:ext cx="132588" cy="1325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69421" y="1886099"/>
            <a:ext cx="2273126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millions of records with ease</a:t>
            </a:r>
            <a:endParaRPr lang="en-US" sz="960" dirty="0"/>
          </a:p>
        </p:txBody>
      </p:sp>
      <p:sp>
        <p:nvSpPr>
          <p:cNvPr id="39" name="Text 30"/>
          <p:cNvSpPr/>
          <p:nvPr/>
        </p:nvSpPr>
        <p:spPr>
          <a:xfrm>
            <a:off x="5082480" y="2144316"/>
            <a:ext cx="200620" cy="20062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16422" y="2178257"/>
            <a:ext cx="132588" cy="13258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369421" y="2165449"/>
            <a:ext cx="1997110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— simultaneously</a:t>
            </a:r>
            <a:endParaRPr lang="en-US" sz="960" dirty="0"/>
          </a:p>
        </p:txBody>
      </p:sp>
      <p:sp>
        <p:nvSpPr>
          <p:cNvPr id="42" name="Text 32"/>
          <p:cNvSpPr/>
          <p:nvPr/>
        </p:nvSpPr>
        <p:spPr>
          <a:xfrm>
            <a:off x="5082480" y="2423666"/>
            <a:ext cx="200620" cy="20062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16422" y="2457608"/>
            <a:ext cx="132588" cy="132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369421" y="2444800"/>
            <a:ext cx="2421776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connected together — relational</a:t>
            </a:r>
            <a:endParaRPr lang="en-US" sz="960" dirty="0"/>
          </a:p>
        </p:txBody>
      </p:sp>
      <p:sp>
        <p:nvSpPr>
          <p:cNvPr id="45" name="Text 34"/>
          <p:cNvSpPr/>
          <p:nvPr/>
        </p:nvSpPr>
        <p:spPr>
          <a:xfrm>
            <a:off x="5082480" y="2703016"/>
            <a:ext cx="200620" cy="20062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16422" y="2736958"/>
            <a:ext cx="132588" cy="1325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369421" y="2724150"/>
            <a:ext cx="2660794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 &amp; query — structured language</a:t>
            </a:r>
            <a:endParaRPr lang="en-US" sz="960" dirty="0"/>
          </a:p>
        </p:txBody>
      </p:sp>
      <p:sp>
        <p:nvSpPr>
          <p:cNvPr id="48" name="Text 36"/>
          <p:cNvSpPr/>
          <p:nvPr/>
        </p:nvSpPr>
        <p:spPr>
          <a:xfrm>
            <a:off x="5082480" y="3650903"/>
            <a:ext cx="3408164" cy="551548"/>
          </a:xfrm>
          <a:prstGeom prst="roundRect">
            <a:avLst>
              <a:gd name="adj" fmla="val 10362"/>
            </a:avLst>
          </a:prstGeom>
          <a:solidFill>
            <a:srgbClr val="0078D4">
              <a:alpha val="10000"/>
            </a:srgbClr>
          </a:solidFill>
          <a:ln w="9525">
            <a:solidFill>
              <a:srgbClr val="0078D4">
                <a:alpha val="20000"/>
              </a:srgbClr>
            </a:solidFill>
          </a:ln>
        </p:spPr>
        <p:txBody>
          <a:bodyPr wrap="square" lIns="100330" tIns="71120" rIns="100330" bIns="71120" rtlCol="0" anchor="t"/>
          <a:lstStyle/>
          <a:p>
            <a:pPr marL="0" indent="0" algn="l">
              <a:buNone/>
            </a:pPr>
            <a:r>
              <a:rPr lang="en-US" sz="680" kern="0" spc="68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CAPACITY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6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billions of records</a:t>
            </a:r>
            <a:endParaRPr lang="en-US" sz="680" dirty="0"/>
          </a:p>
        </p:txBody>
      </p:sp>
      <p:sp>
        <p:nvSpPr>
          <p:cNvPr id="49" name="Text 37"/>
          <p:cNvSpPr/>
          <p:nvPr/>
        </p:nvSpPr>
        <p:spPr>
          <a:xfrm>
            <a:off x="5192316" y="3904059"/>
            <a:ext cx="3188494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8"/>
          <p:cNvSpPr/>
          <p:nvPr/>
        </p:nvSpPr>
        <p:spPr>
          <a:xfrm>
            <a:off x="5192316" y="3904059"/>
            <a:ext cx="2805857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0078D4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39"/>
          <p:cNvSpPr/>
          <p:nvPr/>
        </p:nvSpPr>
        <p:spPr>
          <a:xfrm>
            <a:off x="346365" y="4495502"/>
            <a:ext cx="8451271" cy="390227"/>
          </a:xfrm>
          <a:prstGeom prst="roundRect">
            <a:avLst>
              <a:gd name="adj" fmla="val 18225"/>
            </a:avLst>
          </a:prstGeom>
          <a:solidFill>
            <a:srgbClr val="0078D4">
              <a:alpha val="12000"/>
            </a:srgbClr>
          </a:solidFill>
          <a:ln w="9525">
            <a:solidFill>
              <a:srgbClr val="0078D4">
                <a:alpha val="30000"/>
              </a:srgbClr>
            </a:solidFill>
          </a:ln>
        </p:spPr>
        <p:txBody>
          <a:bodyPr wrap="none" lIns="200660" tIns="100330" rIns="200660" bIns="100330" rtlCol="0" anchor="t"/>
          <a:lstStyle/>
          <a:p>
            <a:pPr marL="0" indent="0" algn="ctr">
              <a:buNone/>
            </a:pPr>
            <a:r>
              <a:rPr lang="en-US" sz="96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businesses grew, </a:t>
            </a:r>
            <a:r>
              <a:rPr lang="en-US" sz="960" b="1" dirty="0">
                <a:solidFill>
                  <a:srgbClr val="60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were no longer enough</a:t>
            </a:r>
            <a:r>
              <a:rPr lang="en-US" sz="96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world needed something far more powerful.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43280" y="0"/>
            <a:ext cx="1000720" cy="1000720"/>
          </a:xfrm>
          <a:prstGeom prst="ellipse">
            <a:avLst/>
          </a:prstGeom>
          <a:solidFill>
            <a:srgbClr val="0078D4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86030" y="214610"/>
            <a:ext cx="571500" cy="571500"/>
          </a:xfrm>
          <a:prstGeom prst="ellipse">
            <a:avLst/>
          </a:prstGeom>
          <a:solidFill>
            <a:srgbClr val="0078D4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280" y="642491"/>
            <a:ext cx="285750" cy="285750"/>
          </a:xfrm>
          <a:prstGeom prst="ellipse">
            <a:avLst/>
          </a:prstGeom>
          <a:solidFill>
            <a:srgbClr val="0078D4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6030" y="0"/>
            <a:ext cx="1857970" cy="514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4350" y="271760"/>
            <a:ext cx="1818013" cy="197346"/>
          </a:xfrm>
          <a:prstGeom prst="roundRect">
            <a:avLst>
              <a:gd name="adj" fmla="val 14801"/>
            </a:avLst>
          </a:prstGeom>
          <a:solidFill>
            <a:srgbClr val="E6F3FC"/>
          </a:solidFill>
          <a:ln/>
        </p:spPr>
        <p:txBody>
          <a:bodyPr wrap="none" lIns="204698" tIns="29210" rIns="86360" bIns="29210" rtlCol="0" anchor="ctr"/>
          <a:lstStyle/>
          <a:p>
            <a:pPr marL="0" indent="0" algn="l">
              <a:buNone/>
            </a:pPr>
            <a:r>
              <a:rPr lang="en-US" sz="730" b="1" kern="0" spc="73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EVOLUTION</a:t>
            </a:r>
            <a:endParaRPr lang="en-US" sz="73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955" y="304065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4350" y="540097"/>
            <a:ext cx="8581073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70"/>
              </a:lnSpc>
              <a:spcAft>
                <a:spcPts val="340"/>
              </a:spcAft>
              <a:buNone/>
            </a:pPr>
            <a:r>
              <a:rPr lang="en-US" sz="2700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r>
              <a:rPr lang="en-US" sz="2700" b="1" dirty="0">
                <a:solidFill>
                  <a:srgbClr val="0078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Lake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14350" y="960388"/>
            <a:ext cx="8989695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i="1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got too big, messy, and fast for databases.</a:t>
            </a:r>
            <a:endParaRPr lang="en-US" sz="1070" dirty="0"/>
          </a:p>
        </p:txBody>
      </p:sp>
      <p:sp>
        <p:nvSpPr>
          <p:cNvPr id="11" name="Text 7"/>
          <p:cNvSpPr/>
          <p:nvPr/>
        </p:nvSpPr>
        <p:spPr>
          <a:xfrm>
            <a:off x="514350" y="1321594"/>
            <a:ext cx="8172450" cy="628352"/>
          </a:xfrm>
          <a:prstGeom prst="roundRect">
            <a:avLst>
              <a:gd name="adj" fmla="val 13744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078D4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14350" y="1321594"/>
            <a:ext cx="28575" cy="628352"/>
          </a:xfrm>
          <a:custGeom>
            <a:avLst/>
            <a:gdLst/>
            <a:ahLst/>
            <a:cxnLst/>
            <a:rect l="l" t="t" r="r" b="b"/>
            <a:pathLst>
              <a:path w="28575" h="628352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606171"/>
                </a:lnTo>
                <a:lnTo>
                  <a:pt x="25003" y="602766"/>
                </a:lnTo>
                <a:lnTo>
                  <a:pt x="21431" y="598934"/>
                </a:lnTo>
                <a:lnTo>
                  <a:pt x="17859" y="594582"/>
                </a:lnTo>
                <a:lnTo>
                  <a:pt x="14288" y="589570"/>
                </a:lnTo>
                <a:lnTo>
                  <a:pt x="10716" y="583657"/>
                </a:lnTo>
                <a:lnTo>
                  <a:pt x="7144" y="576385"/>
                </a:lnTo>
                <a:lnTo>
                  <a:pt x="3572" y="566572"/>
                </a:lnTo>
                <a:lnTo>
                  <a:pt x="0" y="541992"/>
                </a:lnTo>
                <a:close/>
              </a:path>
            </a:pathLst>
          </a:custGeom>
          <a:solidFill>
            <a:srgbClr val="0078D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14375" y="1449735"/>
            <a:ext cx="372070" cy="372070"/>
          </a:xfrm>
          <a:prstGeom prst="ellipse">
            <a:avLst/>
          </a:prstGeom>
          <a:solidFill>
            <a:srgbClr val="E6F3F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103" y="1560463"/>
            <a:ext cx="150465" cy="1504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9916" y="1449735"/>
            <a:ext cx="6804481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Massive Open Storage</a:t>
            </a:r>
            <a:endParaRPr lang="en-US" sz="1130" dirty="0"/>
          </a:p>
        </p:txBody>
      </p:sp>
      <p:sp>
        <p:nvSpPr>
          <p:cNvPr id="16" name="Text 11"/>
          <p:cNvSpPr/>
          <p:nvPr/>
        </p:nvSpPr>
        <p:spPr>
          <a:xfrm>
            <a:off x="1229916" y="1635621"/>
            <a:ext cx="680448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open storage space — dump anything in, any format, any size. Text, video, sensor logs, images — all welcome.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14350" y="2050256"/>
            <a:ext cx="8172450" cy="628352"/>
          </a:xfrm>
          <a:prstGeom prst="roundRect">
            <a:avLst>
              <a:gd name="adj" fmla="val 13744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078D4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14350" y="2050256"/>
            <a:ext cx="28575" cy="628352"/>
          </a:xfrm>
          <a:custGeom>
            <a:avLst/>
            <a:gdLst/>
            <a:ahLst/>
            <a:cxnLst/>
            <a:rect l="l" t="t" r="r" b="b"/>
            <a:pathLst>
              <a:path w="28575" h="628352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606171"/>
                </a:lnTo>
                <a:lnTo>
                  <a:pt x="25003" y="602766"/>
                </a:lnTo>
                <a:lnTo>
                  <a:pt x="21431" y="598934"/>
                </a:lnTo>
                <a:lnTo>
                  <a:pt x="17859" y="594582"/>
                </a:lnTo>
                <a:lnTo>
                  <a:pt x="14288" y="589570"/>
                </a:lnTo>
                <a:lnTo>
                  <a:pt x="10716" y="583657"/>
                </a:lnTo>
                <a:lnTo>
                  <a:pt x="7144" y="576385"/>
                </a:lnTo>
                <a:lnTo>
                  <a:pt x="3572" y="566572"/>
                </a:lnTo>
                <a:lnTo>
                  <a:pt x="0" y="541992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14375" y="2178397"/>
            <a:ext cx="372070" cy="372070"/>
          </a:xfrm>
          <a:prstGeom prst="ellipse">
            <a:avLst/>
          </a:prstGeom>
          <a:solidFill>
            <a:srgbClr val="E0F7F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103" y="2289125"/>
            <a:ext cx="150465" cy="1504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29916" y="2178397"/>
            <a:ext cx="6813649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006D8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Flows In From Everywhere</a:t>
            </a:r>
            <a:endParaRPr lang="en-US" sz="1130" dirty="0"/>
          </a:p>
        </p:txBody>
      </p:sp>
      <p:sp>
        <p:nvSpPr>
          <p:cNvPr id="22" name="Text 16"/>
          <p:cNvSpPr/>
          <p:nvPr/>
        </p:nvSpPr>
        <p:spPr>
          <a:xfrm>
            <a:off x="1229916" y="2364284"/>
            <a:ext cx="681364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in continuously from sensors, apps, clicks, photos, GPS signals — like rivers feeding a lake, 24/7, never stopping.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14350" y="2778919"/>
            <a:ext cx="8172450" cy="628352"/>
          </a:xfrm>
          <a:prstGeom prst="roundRect">
            <a:avLst>
              <a:gd name="adj" fmla="val 13744"/>
            </a:avLst>
          </a:prstGeom>
          <a:solidFill>
            <a:srgbClr val="FFFDF5"/>
          </a:solidFill>
          <a:ln/>
          <a:effectLst>
            <a:outerShdw blurRad="86360" dist="13970" dir="5400000" algn="bl" rotWithShape="0">
              <a:srgbClr val="0078D4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14350" y="2778919"/>
            <a:ext cx="28575" cy="628352"/>
          </a:xfrm>
          <a:custGeom>
            <a:avLst/>
            <a:gdLst/>
            <a:ahLst/>
            <a:cxnLst/>
            <a:rect l="l" t="t" r="r" b="b"/>
            <a:pathLst>
              <a:path w="28575" h="628352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606171"/>
                </a:lnTo>
                <a:lnTo>
                  <a:pt x="25003" y="602766"/>
                </a:lnTo>
                <a:lnTo>
                  <a:pt x="21431" y="598934"/>
                </a:lnTo>
                <a:lnTo>
                  <a:pt x="17859" y="594582"/>
                </a:lnTo>
                <a:lnTo>
                  <a:pt x="14288" y="589570"/>
                </a:lnTo>
                <a:lnTo>
                  <a:pt x="10716" y="583657"/>
                </a:lnTo>
                <a:lnTo>
                  <a:pt x="7144" y="576385"/>
                </a:lnTo>
                <a:lnTo>
                  <a:pt x="3572" y="566572"/>
                </a:lnTo>
                <a:lnTo>
                  <a:pt x="0" y="541992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714375" y="2907060"/>
            <a:ext cx="372070" cy="372070"/>
          </a:xfrm>
          <a:prstGeom prst="ellipse">
            <a:avLst/>
          </a:prstGeom>
          <a:solidFill>
            <a:srgbClr val="FEF3C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103" y="3017788"/>
            <a:ext cx="150465" cy="1504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29916" y="2907060"/>
            <a:ext cx="6624891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Problem: Data Swamp</a:t>
            </a:r>
            <a:endParaRPr lang="en-US" sz="1130" dirty="0"/>
          </a:p>
        </p:txBody>
      </p:sp>
      <p:sp>
        <p:nvSpPr>
          <p:cNvPr id="28" name="Text 21"/>
          <p:cNvSpPr/>
          <p:nvPr/>
        </p:nvSpPr>
        <p:spPr>
          <a:xfrm>
            <a:off x="1229916" y="3092946"/>
            <a:ext cx="662489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labels, structure, or organization, a Data Lake quickly becomes a Data Swamp — impossible to search or trust.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14350" y="3521571"/>
            <a:ext cx="8172450" cy="685800"/>
          </a:xfrm>
          <a:prstGeom prst="roundRect">
            <a:avLst>
              <a:gd name="adj" fmla="val 12593"/>
            </a:avLst>
          </a:prstGeom>
          <a:gradFill rotWithShape="1">
            <a:gsLst>
              <a:gs pos="0">
                <a:srgbClr val="0F2D4A"/>
              </a:gs>
              <a:gs pos="100000">
                <a:srgbClr val="1A3F5C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714970" y="3864471"/>
            <a:ext cx="207062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4500" dirty="0">
                <a:solidFill>
                  <a:srgbClr val="0078D4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4500" dirty="0"/>
          </a:p>
        </p:txBody>
      </p:sp>
      <p:sp>
        <p:nvSpPr>
          <p:cNvPr id="31" name="Text 24"/>
          <p:cNvSpPr/>
          <p:nvPr/>
        </p:nvSpPr>
        <p:spPr>
          <a:xfrm>
            <a:off x="8044158" y="3306941"/>
            <a:ext cx="857250" cy="857250"/>
          </a:xfrm>
          <a:prstGeom prst="ellipse">
            <a:avLst/>
          </a:prstGeom>
          <a:solidFill>
            <a:srgbClr val="0078D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1046113" y="3764012"/>
            <a:ext cx="3166006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82"/>
              </a:lnSpc>
              <a:buNone/>
            </a:pPr>
            <a:r>
              <a:rPr lang="en-US" sz="1130" i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lake full of </a:t>
            </a:r>
            <a:r>
              <a:rPr lang="en-US" sz="1130" b="1" i="1" dirty="0">
                <a:solidFill>
                  <a:srgbClr val="5BB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unlabeled data</a:t>
            </a:r>
            <a:r>
              <a:rPr lang="en-US" sz="1130" i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is just a swamp.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50000">
                <a:srgbClr val="50A8F0"/>
              </a:gs>
              <a:gs pos="100000">
                <a:srgbClr val="0078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946993"/>
            <a:ext cx="2514152" cy="21580"/>
          </a:xfrm>
          <a:custGeom>
            <a:avLst/>
            <a:gdLst/>
            <a:ahLst/>
            <a:cxnLst/>
            <a:rect l="l" t="t" r="r" b="b"/>
            <a:pathLst>
              <a:path w="2514152" h="21580">
                <a:moveTo>
                  <a:pt x="86360" y="0"/>
                </a:moveTo>
                <a:lnTo>
                  <a:pt x="2427792" y="0"/>
                </a:lnTo>
                <a:lnTo>
                  <a:pt x="2427792" y="0"/>
                </a:lnTo>
                <a:lnTo>
                  <a:pt x="2444640" y="1659"/>
                </a:lnTo>
                <a:lnTo>
                  <a:pt x="2460841" y="6574"/>
                </a:lnTo>
                <a:lnTo>
                  <a:pt x="2475771" y="14554"/>
                </a:lnTo>
                <a:lnTo>
                  <a:pt x="2488858" y="21580"/>
                </a:lnTo>
                <a:lnTo>
                  <a:pt x="2499598" y="21580"/>
                </a:lnTo>
                <a:lnTo>
                  <a:pt x="2507579" y="21580"/>
                </a:lnTo>
                <a:lnTo>
                  <a:pt x="2512493" y="21580"/>
                </a:lnTo>
                <a:lnTo>
                  <a:pt x="2514152" y="21580"/>
                </a:lnTo>
                <a:lnTo>
                  <a:pt x="2514152" y="21580"/>
                </a:lnTo>
                <a:lnTo>
                  <a:pt x="0" y="21580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4554"/>
                </a:lnTo>
                <a:lnTo>
                  <a:pt x="25294" y="21580"/>
                </a:lnTo>
                <a:lnTo>
                  <a:pt x="14554" y="21580"/>
                </a:lnTo>
                <a:lnTo>
                  <a:pt x="6574" y="21580"/>
                </a:lnTo>
                <a:lnTo>
                  <a:pt x="1659" y="21580"/>
                </a:lnTo>
                <a:lnTo>
                  <a:pt x="0" y="21580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50A8F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46239" y="1594842"/>
            <a:ext cx="66675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14849" y="946993"/>
            <a:ext cx="2514305" cy="21580"/>
          </a:xfrm>
          <a:custGeom>
            <a:avLst/>
            <a:gdLst/>
            <a:ahLst/>
            <a:cxnLst/>
            <a:rect l="l" t="t" r="r" b="b"/>
            <a:pathLst>
              <a:path w="2514305" h="21580">
                <a:moveTo>
                  <a:pt x="86360" y="0"/>
                </a:moveTo>
                <a:lnTo>
                  <a:pt x="2427945" y="0"/>
                </a:lnTo>
                <a:lnTo>
                  <a:pt x="2427945" y="0"/>
                </a:lnTo>
                <a:lnTo>
                  <a:pt x="2444793" y="1659"/>
                </a:lnTo>
                <a:lnTo>
                  <a:pt x="2460993" y="6574"/>
                </a:lnTo>
                <a:lnTo>
                  <a:pt x="2475924" y="14554"/>
                </a:lnTo>
                <a:lnTo>
                  <a:pt x="2489010" y="21580"/>
                </a:lnTo>
                <a:lnTo>
                  <a:pt x="2499750" y="21580"/>
                </a:lnTo>
                <a:lnTo>
                  <a:pt x="2507731" y="21580"/>
                </a:lnTo>
                <a:lnTo>
                  <a:pt x="2512645" y="21580"/>
                </a:lnTo>
                <a:lnTo>
                  <a:pt x="2514305" y="21580"/>
                </a:lnTo>
                <a:lnTo>
                  <a:pt x="2514305" y="21580"/>
                </a:lnTo>
                <a:lnTo>
                  <a:pt x="0" y="21580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4554"/>
                </a:lnTo>
                <a:lnTo>
                  <a:pt x="25294" y="21580"/>
                </a:lnTo>
                <a:lnTo>
                  <a:pt x="14554" y="21580"/>
                </a:lnTo>
                <a:lnTo>
                  <a:pt x="6574" y="21580"/>
                </a:lnTo>
                <a:lnTo>
                  <a:pt x="1659" y="21580"/>
                </a:lnTo>
                <a:lnTo>
                  <a:pt x="0" y="21580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50A8F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51662" y="1594842"/>
            <a:ext cx="66675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20271" y="946993"/>
            <a:ext cx="2514152" cy="21580"/>
          </a:xfrm>
          <a:custGeom>
            <a:avLst/>
            <a:gdLst/>
            <a:ahLst/>
            <a:cxnLst/>
            <a:rect l="l" t="t" r="r" b="b"/>
            <a:pathLst>
              <a:path w="2514152" h="21580">
                <a:moveTo>
                  <a:pt x="86360" y="0"/>
                </a:moveTo>
                <a:lnTo>
                  <a:pt x="2427792" y="0"/>
                </a:lnTo>
                <a:lnTo>
                  <a:pt x="2427792" y="0"/>
                </a:lnTo>
                <a:lnTo>
                  <a:pt x="2444640" y="1659"/>
                </a:lnTo>
                <a:lnTo>
                  <a:pt x="2460841" y="6574"/>
                </a:lnTo>
                <a:lnTo>
                  <a:pt x="2475771" y="14554"/>
                </a:lnTo>
                <a:lnTo>
                  <a:pt x="2488858" y="21580"/>
                </a:lnTo>
                <a:lnTo>
                  <a:pt x="2499598" y="21580"/>
                </a:lnTo>
                <a:lnTo>
                  <a:pt x="2507579" y="21580"/>
                </a:lnTo>
                <a:lnTo>
                  <a:pt x="2512493" y="21580"/>
                </a:lnTo>
                <a:lnTo>
                  <a:pt x="2514152" y="21580"/>
                </a:lnTo>
                <a:lnTo>
                  <a:pt x="2514152" y="21580"/>
                </a:lnTo>
                <a:lnTo>
                  <a:pt x="0" y="21580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4554"/>
                </a:lnTo>
                <a:lnTo>
                  <a:pt x="25294" y="21580"/>
                </a:lnTo>
                <a:lnTo>
                  <a:pt x="14554" y="21580"/>
                </a:lnTo>
                <a:lnTo>
                  <a:pt x="6574" y="21580"/>
                </a:lnTo>
                <a:lnTo>
                  <a:pt x="1659" y="21580"/>
                </a:lnTo>
                <a:lnTo>
                  <a:pt x="0" y="21580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50A8F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228600"/>
            <a:ext cx="8805672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spcAft>
                <a:spcPts val="230"/>
              </a:spcAft>
              <a:buNone/>
            </a:pPr>
            <a:r>
              <a:rPr lang="en-US" sz="2030" kern="0" spc="-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Data Warehouse </a:t>
            </a:r>
            <a:r>
              <a:rPr lang="en-US" sz="2030" b="1" kern="0" spc="-30" dirty="0">
                <a:solidFill>
                  <a:srgbClr val="50A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ETL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457200" y="554087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raw data and turning it into something useful.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00050" y="937468"/>
            <a:ext cx="2533204" cy="1410146"/>
          </a:xfrm>
          <a:prstGeom prst="roundRect">
            <a:avLst>
              <a:gd name="adj" fmla="val 6124"/>
            </a:avLst>
          </a:prstGeom>
          <a:solidFill>
            <a:srgbClr val="1A3F5C"/>
          </a:solidFill>
          <a:ln w="9525">
            <a:solidFill>
              <a:srgbClr val="0078D4">
                <a:alpha val="25000"/>
              </a:srgbClr>
            </a:solidFill>
          </a:ln>
          <a:effectLst>
            <a:outerShdw blurRad="171450" dist="2921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66267" y="846683"/>
            <a:ext cx="200620" cy="220682"/>
          </a:xfrm>
          <a:prstGeom prst="ellipse">
            <a:avLst/>
          </a:prstGeom>
          <a:solidFill>
            <a:srgbClr val="0078D4"/>
          </a:solidFill>
          <a:ln w="9525">
            <a:solidFill>
              <a:srgbClr val="0F2D4A"/>
            </a:solidFill>
          </a:ln>
          <a:effectLst>
            <a:outerShdw blurRad="86360" dist="50800" dir="16200000" algn="bl" rotWithShape="0">
              <a:srgbClr val="0078D4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437977" y="1104454"/>
            <a:ext cx="457200" cy="457200"/>
          </a:xfrm>
          <a:prstGeom prst="ellipse">
            <a:avLst/>
          </a:prstGeom>
          <a:gradFill rotWithShape="1">
            <a:gsLst>
              <a:gs pos="0">
                <a:srgbClr val="0078D4">
                  <a:alpha val="22000"/>
                </a:srgbClr>
              </a:gs>
              <a:gs pos="100000">
                <a:srgbClr val="0078D4">
                  <a:alpha val="8000"/>
                </a:srgbClr>
              </a:gs>
            </a:gsLst>
            <a:lin ang="2700000" scaled="1"/>
          </a:gradFill>
          <a:ln w="9525">
            <a:solidFill>
              <a:srgbClr val="0078D4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9839" y="1236315"/>
            <a:ext cx="193328" cy="1933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29721" y="1618804"/>
            <a:ext cx="673861" cy="180231"/>
          </a:xfrm>
          <a:prstGeom prst="roundRect">
            <a:avLst>
              <a:gd name="adj" fmla="val 79626"/>
            </a:avLst>
          </a:prstGeom>
          <a:solidFill>
            <a:srgbClr val="0078D4">
              <a:alpha val="18000"/>
            </a:srgbClr>
          </a:solidFill>
          <a:ln w="9525">
            <a:solidFill>
              <a:srgbClr val="0078D4">
                <a:alpha val="30000"/>
              </a:srgbClr>
            </a:solidFill>
          </a:ln>
        </p:spPr>
        <p:txBody>
          <a:bodyPr wrap="none" lIns="86360" tIns="21590" rIns="86360" bIns="21590" rtlCol="0" anchor="t"/>
          <a:lstStyle/>
          <a:p>
            <a:pPr marL="0" indent="0" algn="ctr">
              <a:buNone/>
            </a:pPr>
            <a:r>
              <a:rPr lang="en-US" sz="620" b="1" kern="0" spc="110" dirty="0">
                <a:solidFill>
                  <a:srgbClr val="50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530773" y="1885355"/>
            <a:ext cx="2271757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8"/>
              </a:lnSpc>
              <a:buNone/>
            </a:pPr>
            <a:r>
              <a:rPr lang="en-US" sz="84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 out of the Data Lake — in any format, from any source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2933254" y="1631752"/>
            <a:ext cx="372070" cy="2158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50A8F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305324" y="937468"/>
            <a:ext cx="2533352" cy="1410146"/>
          </a:xfrm>
          <a:prstGeom prst="roundRect">
            <a:avLst>
              <a:gd name="adj" fmla="val 6124"/>
            </a:avLst>
          </a:prstGeom>
          <a:solidFill>
            <a:srgbClr val="1A3F5C"/>
          </a:solidFill>
          <a:ln w="9525">
            <a:solidFill>
              <a:srgbClr val="0078D4">
                <a:alpha val="25000"/>
              </a:srgbClr>
            </a:solidFill>
          </a:ln>
          <a:effectLst>
            <a:outerShdw blurRad="171450" dist="2921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471690" y="846683"/>
            <a:ext cx="200620" cy="220682"/>
          </a:xfrm>
          <a:prstGeom prst="ellipse">
            <a:avLst/>
          </a:prstGeom>
          <a:solidFill>
            <a:srgbClr val="0078D4"/>
          </a:solidFill>
          <a:ln w="9525">
            <a:solidFill>
              <a:srgbClr val="0F2D4A"/>
            </a:solidFill>
          </a:ln>
          <a:effectLst>
            <a:outerShdw blurRad="86360" dist="50800" dir="16200000" algn="bl" rotWithShape="0">
              <a:srgbClr val="0078D4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4343400" y="1104454"/>
            <a:ext cx="457200" cy="457200"/>
          </a:xfrm>
          <a:prstGeom prst="ellipse">
            <a:avLst/>
          </a:prstGeom>
          <a:gradFill rotWithShape="1">
            <a:gsLst>
              <a:gs pos="0">
                <a:srgbClr val="0078D4">
                  <a:alpha val="22000"/>
                </a:srgbClr>
              </a:gs>
              <a:gs pos="100000">
                <a:srgbClr val="0078D4">
                  <a:alpha val="8000"/>
                </a:srgbClr>
              </a:gs>
            </a:gsLst>
            <a:lin ang="2700000" scaled="1"/>
          </a:gradFill>
          <a:ln w="9525">
            <a:solidFill>
              <a:srgbClr val="0078D4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5262" y="1236315"/>
            <a:ext cx="193328" cy="19332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154082" y="1618804"/>
            <a:ext cx="835837" cy="180231"/>
          </a:xfrm>
          <a:prstGeom prst="roundRect">
            <a:avLst>
              <a:gd name="adj" fmla="val 79626"/>
            </a:avLst>
          </a:prstGeom>
          <a:solidFill>
            <a:srgbClr val="0078D4">
              <a:alpha val="18000"/>
            </a:srgbClr>
          </a:solidFill>
          <a:ln w="9525">
            <a:solidFill>
              <a:srgbClr val="0078D4">
                <a:alpha val="30000"/>
              </a:srgbClr>
            </a:solidFill>
          </a:ln>
        </p:spPr>
        <p:txBody>
          <a:bodyPr wrap="none" lIns="86360" tIns="21590" rIns="86360" bIns="21590" rtlCol="0" anchor="t"/>
          <a:lstStyle/>
          <a:p>
            <a:pPr marL="0" indent="0" algn="ctr">
              <a:buNone/>
            </a:pPr>
            <a:r>
              <a:rPr lang="en-US" sz="620" b="1" kern="0" spc="110" dirty="0">
                <a:solidFill>
                  <a:srgbClr val="50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620" dirty="0"/>
          </a:p>
        </p:txBody>
      </p:sp>
      <p:sp>
        <p:nvSpPr>
          <p:cNvPr id="24" name="Text 20"/>
          <p:cNvSpPr/>
          <p:nvPr/>
        </p:nvSpPr>
        <p:spPr>
          <a:xfrm>
            <a:off x="3436046" y="1885355"/>
            <a:ext cx="2271909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8"/>
              </a:lnSpc>
              <a:buNone/>
            </a:pPr>
            <a:r>
              <a:rPr lang="en-US" sz="84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fix errors, combine sources, and convert formats into consistent structure</a:t>
            </a:r>
            <a:endParaRPr lang="en-US" sz="840" dirty="0"/>
          </a:p>
        </p:txBody>
      </p:sp>
      <p:sp>
        <p:nvSpPr>
          <p:cNvPr id="25" name="Text 21"/>
          <p:cNvSpPr/>
          <p:nvPr/>
        </p:nvSpPr>
        <p:spPr>
          <a:xfrm>
            <a:off x="5838676" y="1631752"/>
            <a:ext cx="372070" cy="2158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50A8F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210746" y="937468"/>
            <a:ext cx="2533204" cy="1410146"/>
          </a:xfrm>
          <a:prstGeom prst="roundRect">
            <a:avLst>
              <a:gd name="adj" fmla="val 6124"/>
            </a:avLst>
          </a:prstGeom>
          <a:solidFill>
            <a:srgbClr val="1A3F5C"/>
          </a:solidFill>
          <a:ln w="9525">
            <a:solidFill>
              <a:srgbClr val="0078D4">
                <a:alpha val="25000"/>
              </a:srgbClr>
            </a:solidFill>
          </a:ln>
          <a:effectLst>
            <a:outerShdw blurRad="171450" dist="2921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376964" y="846683"/>
            <a:ext cx="200620" cy="220682"/>
          </a:xfrm>
          <a:prstGeom prst="ellipse">
            <a:avLst/>
          </a:prstGeom>
          <a:solidFill>
            <a:srgbClr val="0078D4"/>
          </a:solidFill>
          <a:ln w="9525">
            <a:solidFill>
              <a:srgbClr val="0F2D4A"/>
            </a:solidFill>
          </a:ln>
          <a:effectLst>
            <a:outerShdw blurRad="86360" dist="50800" dir="16200000" algn="bl" rotWithShape="0">
              <a:srgbClr val="0078D4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28" name="Text 24"/>
          <p:cNvSpPr/>
          <p:nvPr/>
        </p:nvSpPr>
        <p:spPr>
          <a:xfrm>
            <a:off x="7248674" y="1104454"/>
            <a:ext cx="457200" cy="457200"/>
          </a:xfrm>
          <a:prstGeom prst="ellipse">
            <a:avLst/>
          </a:prstGeom>
          <a:gradFill rotWithShape="1">
            <a:gsLst>
              <a:gs pos="0">
                <a:srgbClr val="0078D4">
                  <a:alpha val="22000"/>
                </a:srgbClr>
              </a:gs>
              <a:gs pos="100000">
                <a:srgbClr val="0078D4">
                  <a:alpha val="8000"/>
                </a:srgbClr>
              </a:gs>
            </a:gsLst>
            <a:lin ang="2700000" scaled="1"/>
          </a:gradFill>
          <a:ln w="9525">
            <a:solidFill>
              <a:srgbClr val="0078D4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0536" y="1236315"/>
            <a:ext cx="193328" cy="19332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237422" y="1618804"/>
            <a:ext cx="479703" cy="180231"/>
          </a:xfrm>
          <a:prstGeom prst="roundRect">
            <a:avLst>
              <a:gd name="adj" fmla="val 79626"/>
            </a:avLst>
          </a:prstGeom>
          <a:solidFill>
            <a:srgbClr val="0078D4">
              <a:alpha val="18000"/>
            </a:srgbClr>
          </a:solidFill>
          <a:ln w="9525">
            <a:solidFill>
              <a:srgbClr val="0078D4">
                <a:alpha val="30000"/>
              </a:srgbClr>
            </a:solidFill>
          </a:ln>
        </p:spPr>
        <p:txBody>
          <a:bodyPr wrap="none" lIns="86360" tIns="21590" rIns="86360" bIns="21590" rtlCol="0" anchor="t"/>
          <a:lstStyle/>
          <a:p>
            <a:pPr marL="0" indent="0" algn="ctr">
              <a:buNone/>
            </a:pPr>
            <a:r>
              <a:rPr lang="en-US" sz="620" b="1" kern="0" spc="110" dirty="0">
                <a:solidFill>
                  <a:srgbClr val="50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620" dirty="0"/>
          </a:p>
        </p:txBody>
      </p:sp>
      <p:sp>
        <p:nvSpPr>
          <p:cNvPr id="31" name="Text 26"/>
          <p:cNvSpPr/>
          <p:nvPr/>
        </p:nvSpPr>
        <p:spPr>
          <a:xfrm>
            <a:off x="6341470" y="1885355"/>
            <a:ext cx="2271757" cy="324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8"/>
              </a:lnSpc>
              <a:buNone/>
            </a:pPr>
            <a:r>
              <a:rPr lang="en-US" sz="84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clean, organized data into the Data Warehouse — ready for analysis</a:t>
            </a:r>
            <a:endParaRPr lang="en-US" sz="840" dirty="0"/>
          </a:p>
        </p:txBody>
      </p:sp>
      <p:sp>
        <p:nvSpPr>
          <p:cNvPr id="32" name="Text 27"/>
          <p:cNvSpPr/>
          <p:nvPr/>
        </p:nvSpPr>
        <p:spPr>
          <a:xfrm>
            <a:off x="400050" y="2475756"/>
            <a:ext cx="3885605" cy="641003"/>
          </a:xfrm>
          <a:prstGeom prst="roundRect">
            <a:avLst>
              <a:gd name="adj" fmla="val 1109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90B4CE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553045" y="263872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90B4CE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003" y="2726680"/>
            <a:ext cx="139005" cy="139005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68276" y="2585591"/>
            <a:ext cx="348082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3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DATA LAKE</a:t>
            </a:r>
            <a:endParaRPr lang="en-US" sz="730" dirty="0"/>
          </a:p>
        </p:txBody>
      </p:sp>
      <p:sp>
        <p:nvSpPr>
          <p:cNvPr id="36" name="Text 30"/>
          <p:cNvSpPr/>
          <p:nvPr/>
        </p:nvSpPr>
        <p:spPr>
          <a:xfrm>
            <a:off x="968276" y="2746177"/>
            <a:ext cx="3227671" cy="27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warehouse. Everything dropped off — unorganized, raw, mixed formats.</a:t>
            </a:r>
            <a:endParaRPr lang="en-US" sz="790" dirty="0"/>
          </a:p>
        </p:txBody>
      </p:sp>
      <p:sp>
        <p:nvSpPr>
          <p:cNvPr id="37" name="Text 31"/>
          <p:cNvSpPr/>
          <p:nvPr/>
        </p:nvSpPr>
        <p:spPr>
          <a:xfrm>
            <a:off x="4457700" y="2681883"/>
            <a:ext cx="228600" cy="251460"/>
          </a:xfrm>
          <a:prstGeom prst="ellipse">
            <a:avLst/>
          </a:prstGeom>
          <a:solidFill>
            <a:srgbClr val="112638"/>
          </a:solidFill>
          <a:ln w="9525">
            <a:solidFill>
              <a:srgbClr val="0078D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50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620" dirty="0"/>
          </a:p>
        </p:txBody>
      </p:sp>
      <p:sp>
        <p:nvSpPr>
          <p:cNvPr id="38" name="Text 32"/>
          <p:cNvSpPr/>
          <p:nvPr/>
        </p:nvSpPr>
        <p:spPr>
          <a:xfrm>
            <a:off x="4858345" y="2475756"/>
            <a:ext cx="3885605" cy="641003"/>
          </a:xfrm>
          <a:prstGeom prst="roundRect">
            <a:avLst>
              <a:gd name="adj" fmla="val 11095"/>
            </a:avLst>
          </a:prstGeom>
          <a:solidFill>
            <a:srgbClr val="0078D4">
              <a:alpha val="10000"/>
            </a:srgbClr>
          </a:solidFill>
          <a:ln w="9525">
            <a:solidFill>
              <a:srgbClr val="0078D4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5011341" y="263872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78D4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9298" y="2726680"/>
            <a:ext cx="139005" cy="13900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426571" y="2585591"/>
            <a:ext cx="348082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30" dirty="0">
                <a:solidFill>
                  <a:srgbClr val="50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DATA WAREHOUSE</a:t>
            </a:r>
            <a:endParaRPr lang="en-US" sz="730" dirty="0"/>
          </a:p>
        </p:txBody>
      </p:sp>
      <p:sp>
        <p:nvSpPr>
          <p:cNvPr id="42" name="Text 35"/>
          <p:cNvSpPr/>
          <p:nvPr/>
        </p:nvSpPr>
        <p:spPr>
          <a:xfrm>
            <a:off x="5426571" y="2746177"/>
            <a:ext cx="3227671" cy="27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dirty="0">
                <a:solidFill>
                  <a:srgbClr val="C5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floor. Everything organized, labeled, and ready to be queried instantly.</a:t>
            </a:r>
            <a:endParaRPr lang="en-US" sz="7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60000">
                <a:srgbClr val="00B4D8"/>
              </a:gs>
              <a:gs pos="100000">
                <a:srgbClr val="0EF0C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B8D4EC">
                  <a:alpha val="4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42985" y="963047"/>
            <a:ext cx="857250" cy="857250"/>
          </a:xfrm>
          <a:prstGeom prst="ellipse">
            <a:avLst/>
          </a:prstGeom>
          <a:gradFill rotWithShape="1">
            <a:gsLst>
              <a:gs pos="0">
                <a:srgbClr val="0078D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10311" y="963047"/>
            <a:ext cx="857250" cy="857250"/>
          </a:xfrm>
          <a:prstGeom prst="ellipse">
            <a:avLst/>
          </a:prstGeom>
          <a:gradFill rotWithShape="1">
            <a:gsLst>
              <a:gs pos="0">
                <a:srgbClr val="00B4D8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77482" y="963047"/>
            <a:ext cx="857250" cy="857250"/>
          </a:xfrm>
          <a:prstGeom prst="ellipse">
            <a:avLst/>
          </a:prstGeom>
          <a:gradFill rotWithShape="1">
            <a:gsLst>
              <a:gs pos="0">
                <a:srgbClr val="0EA17A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257770"/>
            <a:ext cx="4208874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360" b="1" kern="0" spc="-30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Best of Both Worlds</a:t>
            </a:r>
            <a:endParaRPr lang="en-US" sz="2360" dirty="0"/>
          </a:p>
        </p:txBody>
      </p:sp>
      <p:sp>
        <p:nvSpPr>
          <p:cNvPr id="8" name="Text 6"/>
          <p:cNvSpPr/>
          <p:nvPr/>
        </p:nvSpPr>
        <p:spPr>
          <a:xfrm>
            <a:off x="514350" y="644575"/>
            <a:ext cx="45720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744736"/>
            <a:ext cx="4326880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5"/>
              </a:lnSpc>
              <a:spcBef>
                <a:spcPts val="560"/>
              </a:spcBef>
              <a:buNone/>
            </a:pPr>
            <a:r>
              <a:rPr lang="en-US" sz="107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combined the Data Lake and Data Warehouse into one.</a:t>
            </a:r>
            <a:endParaRPr lang="en-US" sz="107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alphaModFix amt="13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3888" y="286941"/>
            <a:ext cx="385763" cy="38576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4350" y="1149102"/>
            <a:ext cx="2380804" cy="2561927"/>
          </a:xfrm>
          <a:prstGeom prst="roundRect">
            <a:avLst>
              <a:gd name="adj" fmla="val 4801"/>
            </a:avLst>
          </a:prstGeom>
          <a:solidFill>
            <a:srgbClr val="FFFFFF"/>
          </a:solidFill>
          <a:ln/>
          <a:effectLst>
            <a:outerShdw blurRad="171450" dist="29210" dir="5400000" algn="bl" rotWithShape="0">
              <a:srgbClr val="0078D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350" y="1149102"/>
            <a:ext cx="2380804" cy="28575"/>
          </a:xfrm>
          <a:custGeom>
            <a:avLst/>
            <a:gdLst/>
            <a:ahLst/>
            <a:cxnLst/>
            <a:rect l="l" t="t" r="r" b="b"/>
            <a:pathLst>
              <a:path w="2380804" h="28575">
                <a:moveTo>
                  <a:pt x="114300" y="0"/>
                </a:moveTo>
                <a:lnTo>
                  <a:pt x="85949" y="3572"/>
                </a:lnTo>
                <a:lnTo>
                  <a:pt x="74525" y="7144"/>
                </a:lnTo>
                <a:lnTo>
                  <a:pt x="65981" y="10716"/>
                </a:lnTo>
                <a:lnTo>
                  <a:pt x="58965" y="14288"/>
                </a:lnTo>
                <a:lnTo>
                  <a:pt x="52951" y="17859"/>
                </a:lnTo>
                <a:lnTo>
                  <a:pt x="47668" y="21431"/>
                </a:lnTo>
                <a:lnTo>
                  <a:pt x="42952" y="25003"/>
                </a:lnTo>
                <a:lnTo>
                  <a:pt x="38698" y="28575"/>
                </a:lnTo>
                <a:lnTo>
                  <a:pt x="2342106" y="28575"/>
                </a:lnTo>
                <a:lnTo>
                  <a:pt x="2337852" y="25003"/>
                </a:lnTo>
                <a:lnTo>
                  <a:pt x="2333136" y="21431"/>
                </a:lnTo>
                <a:lnTo>
                  <a:pt x="2327852" y="17859"/>
                </a:lnTo>
                <a:lnTo>
                  <a:pt x="2321839" y="14288"/>
                </a:lnTo>
                <a:lnTo>
                  <a:pt x="2314823" y="10716"/>
                </a:lnTo>
                <a:lnTo>
                  <a:pt x="2306278" y="7144"/>
                </a:lnTo>
                <a:lnTo>
                  <a:pt x="2294854" y="3572"/>
                </a:lnTo>
                <a:lnTo>
                  <a:pt x="2266504" y="0"/>
                </a:lnTo>
                <a:close/>
              </a:path>
            </a:pathLst>
          </a:custGeom>
          <a:solidFill>
            <a:srgbClr val="0078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24495" y="1406277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0078D4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004" y="1525786"/>
            <a:ext cx="160883" cy="16088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4495" y="1934468"/>
            <a:ext cx="1520641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46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Lakehouse</a:t>
            </a:r>
            <a:endParaRPr lang="en-US" sz="1460" dirty="0"/>
          </a:p>
        </p:txBody>
      </p:sp>
      <p:sp>
        <p:nvSpPr>
          <p:cNvPr id="16" name="Text 12"/>
          <p:cNvSpPr/>
          <p:nvPr/>
        </p:nvSpPr>
        <p:spPr>
          <a:xfrm>
            <a:off x="724495" y="2218581"/>
            <a:ext cx="1999723" cy="99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storage + organized querying, in one system. No trade-offs — get the raw capacity of a lake with the structure of a warehouse.</a:t>
            </a:r>
            <a:endParaRPr lang="en-US" sz="960" dirty="0"/>
          </a:p>
        </p:txBody>
      </p:sp>
      <p:sp>
        <p:nvSpPr>
          <p:cNvPr id="17" name="Text 13"/>
          <p:cNvSpPr/>
          <p:nvPr/>
        </p:nvSpPr>
        <p:spPr>
          <a:xfrm>
            <a:off x="724495" y="3291036"/>
            <a:ext cx="1343927" cy="209848"/>
          </a:xfrm>
          <a:prstGeom prst="roundRect">
            <a:avLst>
              <a:gd name="adj" fmla="val 337097"/>
            </a:avLst>
          </a:prstGeom>
          <a:solidFill>
            <a:srgbClr val="0078D4">
              <a:alpha val="10000"/>
            </a:srgbClr>
          </a:solidFill>
          <a:ln/>
        </p:spPr>
        <p:txBody>
          <a:bodyPr wrap="none" lIns="208250" tIns="35560" rIns="100330" bIns="3556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&amp; Structured</a:t>
            </a:r>
            <a:endParaRPr lang="en-US" sz="73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882" y="3329592"/>
            <a:ext cx="132588" cy="132588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2614" y="2344341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381524" y="1149102"/>
            <a:ext cx="2380952" cy="2561927"/>
          </a:xfrm>
          <a:prstGeom prst="roundRect">
            <a:avLst>
              <a:gd name="adj" fmla="val 4801"/>
            </a:avLst>
          </a:prstGeom>
          <a:solidFill>
            <a:srgbClr val="FFFFFF"/>
          </a:solidFill>
          <a:ln/>
          <a:effectLst>
            <a:outerShdw blurRad="171450" dist="29210" dir="5400000" algn="bl" rotWithShape="0">
              <a:srgbClr val="0078D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381524" y="1149102"/>
            <a:ext cx="9525" cy="2561927"/>
          </a:xfrm>
          <a:custGeom>
            <a:avLst/>
            <a:gdLst/>
            <a:ahLst/>
            <a:cxnLst/>
            <a:rect l="l" t="t" r="r" b="b"/>
            <a:pathLst>
              <a:path w="9525" h="2561927">
                <a:moveTo>
                  <a:pt x="0" y="114300"/>
                </a:moveTo>
                <a:lnTo>
                  <a:pt x="1191" y="97845"/>
                </a:lnTo>
                <a:lnTo>
                  <a:pt x="2381" y="91090"/>
                </a:lnTo>
                <a:lnTo>
                  <a:pt x="3572" y="85949"/>
                </a:lnTo>
                <a:lnTo>
                  <a:pt x="4763" y="81650"/>
                </a:lnTo>
                <a:lnTo>
                  <a:pt x="5953" y="77893"/>
                </a:lnTo>
                <a:lnTo>
                  <a:pt x="7144" y="74525"/>
                </a:lnTo>
                <a:lnTo>
                  <a:pt x="8334" y="71454"/>
                </a:lnTo>
                <a:lnTo>
                  <a:pt x="9525" y="68620"/>
                </a:lnTo>
                <a:lnTo>
                  <a:pt x="9525" y="2493308"/>
                </a:lnTo>
                <a:lnTo>
                  <a:pt x="8334" y="2490473"/>
                </a:lnTo>
                <a:lnTo>
                  <a:pt x="7144" y="2487402"/>
                </a:lnTo>
                <a:lnTo>
                  <a:pt x="5953" y="2484034"/>
                </a:lnTo>
                <a:lnTo>
                  <a:pt x="4763" y="2480277"/>
                </a:lnTo>
                <a:lnTo>
                  <a:pt x="3572" y="2475978"/>
                </a:lnTo>
                <a:lnTo>
                  <a:pt x="2381" y="2470837"/>
                </a:lnTo>
                <a:lnTo>
                  <a:pt x="1191" y="2464082"/>
                </a:lnTo>
                <a:lnTo>
                  <a:pt x="0" y="2447627"/>
                </a:lnTo>
                <a:close/>
              </a:path>
            </a:pathLst>
          </a:custGeom>
          <a:solidFill>
            <a:srgbClr val="0078D4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752951" y="1149102"/>
            <a:ext cx="9525" cy="2561927"/>
          </a:xfrm>
          <a:custGeom>
            <a:avLst/>
            <a:gdLst/>
            <a:ahLst/>
            <a:cxnLst/>
            <a:rect l="l" t="t" r="r" b="b"/>
            <a:pathLst>
              <a:path w="9525" h="2561927">
                <a:moveTo>
                  <a:pt x="0" y="68620"/>
                </a:moveTo>
                <a:lnTo>
                  <a:pt x="1191" y="71454"/>
                </a:lnTo>
                <a:lnTo>
                  <a:pt x="2381" y="74525"/>
                </a:lnTo>
                <a:lnTo>
                  <a:pt x="3572" y="77893"/>
                </a:lnTo>
                <a:lnTo>
                  <a:pt x="4763" y="81650"/>
                </a:lnTo>
                <a:lnTo>
                  <a:pt x="5953" y="85949"/>
                </a:lnTo>
                <a:lnTo>
                  <a:pt x="7144" y="91090"/>
                </a:lnTo>
                <a:lnTo>
                  <a:pt x="8334" y="97845"/>
                </a:lnTo>
                <a:lnTo>
                  <a:pt x="9525" y="114300"/>
                </a:lnTo>
                <a:lnTo>
                  <a:pt x="9525" y="2447627"/>
                </a:lnTo>
                <a:lnTo>
                  <a:pt x="8334" y="2464082"/>
                </a:lnTo>
                <a:lnTo>
                  <a:pt x="7144" y="2470837"/>
                </a:lnTo>
                <a:lnTo>
                  <a:pt x="5953" y="2475978"/>
                </a:lnTo>
                <a:lnTo>
                  <a:pt x="4763" y="2480277"/>
                </a:lnTo>
                <a:lnTo>
                  <a:pt x="3572" y="2484034"/>
                </a:lnTo>
                <a:lnTo>
                  <a:pt x="2381" y="2487402"/>
                </a:lnTo>
                <a:lnTo>
                  <a:pt x="1191" y="2490473"/>
                </a:lnTo>
                <a:lnTo>
                  <a:pt x="0" y="2493308"/>
                </a:lnTo>
                <a:close/>
              </a:path>
            </a:pathLst>
          </a:custGeom>
          <a:solidFill>
            <a:srgbClr val="0078D4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381524" y="1149102"/>
            <a:ext cx="2380952" cy="28575"/>
          </a:xfrm>
          <a:custGeom>
            <a:avLst/>
            <a:gdLst/>
            <a:ahLst/>
            <a:cxnLst/>
            <a:rect l="l" t="t" r="r" b="b"/>
            <a:pathLst>
              <a:path w="2380952" h="28575">
                <a:moveTo>
                  <a:pt x="114300" y="0"/>
                </a:moveTo>
                <a:lnTo>
                  <a:pt x="85949" y="3572"/>
                </a:lnTo>
                <a:lnTo>
                  <a:pt x="74525" y="7144"/>
                </a:lnTo>
                <a:lnTo>
                  <a:pt x="65981" y="10716"/>
                </a:lnTo>
                <a:lnTo>
                  <a:pt x="58965" y="14288"/>
                </a:lnTo>
                <a:lnTo>
                  <a:pt x="52951" y="17859"/>
                </a:lnTo>
                <a:lnTo>
                  <a:pt x="47668" y="21431"/>
                </a:lnTo>
                <a:lnTo>
                  <a:pt x="42952" y="25003"/>
                </a:lnTo>
                <a:lnTo>
                  <a:pt x="38698" y="28575"/>
                </a:lnTo>
                <a:lnTo>
                  <a:pt x="2342255" y="28575"/>
                </a:lnTo>
                <a:lnTo>
                  <a:pt x="2338000" y="25003"/>
                </a:lnTo>
                <a:lnTo>
                  <a:pt x="2333285" y="21431"/>
                </a:lnTo>
                <a:lnTo>
                  <a:pt x="2328001" y="17859"/>
                </a:lnTo>
                <a:lnTo>
                  <a:pt x="2321988" y="14288"/>
                </a:lnTo>
                <a:lnTo>
                  <a:pt x="2314972" y="10716"/>
                </a:lnTo>
                <a:lnTo>
                  <a:pt x="2306427" y="7144"/>
                </a:lnTo>
                <a:lnTo>
                  <a:pt x="2295003" y="3572"/>
                </a:lnTo>
                <a:lnTo>
                  <a:pt x="2266652" y="0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591669" y="1406277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11178" y="1525786"/>
            <a:ext cx="160883" cy="16088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91669" y="1934468"/>
            <a:ext cx="837634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46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OneLake</a:t>
            </a:r>
            <a:endParaRPr lang="en-US" sz="1460" dirty="0"/>
          </a:p>
        </p:txBody>
      </p:sp>
      <p:sp>
        <p:nvSpPr>
          <p:cNvPr id="27" name="Text 20"/>
          <p:cNvSpPr/>
          <p:nvPr/>
        </p:nvSpPr>
        <p:spPr>
          <a:xfrm>
            <a:off x="3591669" y="2218581"/>
            <a:ext cx="1999875" cy="793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storage location for the entire organization. No duplicates, no silos — every team works from the exact same copy of data.</a:t>
            </a:r>
            <a:endParaRPr lang="en-US" sz="960" dirty="0"/>
          </a:p>
        </p:txBody>
      </p:sp>
      <p:sp>
        <p:nvSpPr>
          <p:cNvPr id="28" name="Text 21"/>
          <p:cNvSpPr/>
          <p:nvPr/>
        </p:nvSpPr>
        <p:spPr>
          <a:xfrm>
            <a:off x="3591669" y="3291036"/>
            <a:ext cx="1491633" cy="209848"/>
          </a:xfrm>
          <a:prstGeom prst="roundRect">
            <a:avLst>
              <a:gd name="adj" fmla="val 337097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208250" tIns="35560" rIns="100330" bIns="3556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0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Silos. No Duplicates.</a:t>
            </a:r>
            <a:endParaRPr lang="en-US" sz="73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8055" y="3329592"/>
            <a:ext cx="132588" cy="132588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alphaModFix amt="5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19936" y="2344341"/>
            <a:ext cx="171450" cy="1714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48846" y="1149102"/>
            <a:ext cx="2380804" cy="2561927"/>
          </a:xfrm>
          <a:prstGeom prst="roundRect">
            <a:avLst>
              <a:gd name="adj" fmla="val 4801"/>
            </a:avLst>
          </a:prstGeom>
          <a:solidFill>
            <a:srgbClr val="FFFFFF"/>
          </a:solidFill>
          <a:ln/>
          <a:effectLst>
            <a:outerShdw blurRad="171450" dist="29210" dir="5400000" algn="bl" rotWithShape="0">
              <a:srgbClr val="0078D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6248846" y="1149102"/>
            <a:ext cx="9525" cy="2561927"/>
          </a:xfrm>
          <a:custGeom>
            <a:avLst/>
            <a:gdLst/>
            <a:ahLst/>
            <a:cxnLst/>
            <a:rect l="l" t="t" r="r" b="b"/>
            <a:pathLst>
              <a:path w="9525" h="2561927">
                <a:moveTo>
                  <a:pt x="0" y="114300"/>
                </a:moveTo>
                <a:lnTo>
                  <a:pt x="1191" y="97845"/>
                </a:lnTo>
                <a:lnTo>
                  <a:pt x="2381" y="91090"/>
                </a:lnTo>
                <a:lnTo>
                  <a:pt x="3572" y="85949"/>
                </a:lnTo>
                <a:lnTo>
                  <a:pt x="4763" y="81650"/>
                </a:lnTo>
                <a:lnTo>
                  <a:pt x="5953" y="77893"/>
                </a:lnTo>
                <a:lnTo>
                  <a:pt x="7144" y="74525"/>
                </a:lnTo>
                <a:lnTo>
                  <a:pt x="8334" y="71454"/>
                </a:lnTo>
                <a:lnTo>
                  <a:pt x="9525" y="68620"/>
                </a:lnTo>
                <a:lnTo>
                  <a:pt x="9525" y="2493308"/>
                </a:lnTo>
                <a:lnTo>
                  <a:pt x="8334" y="2490473"/>
                </a:lnTo>
                <a:lnTo>
                  <a:pt x="7144" y="2487402"/>
                </a:lnTo>
                <a:lnTo>
                  <a:pt x="5953" y="2484034"/>
                </a:lnTo>
                <a:lnTo>
                  <a:pt x="4763" y="2480277"/>
                </a:lnTo>
                <a:lnTo>
                  <a:pt x="3572" y="2475978"/>
                </a:lnTo>
                <a:lnTo>
                  <a:pt x="2381" y="2470837"/>
                </a:lnTo>
                <a:lnTo>
                  <a:pt x="1191" y="2464082"/>
                </a:lnTo>
                <a:lnTo>
                  <a:pt x="0" y="2447627"/>
                </a:lnTo>
                <a:close/>
              </a:path>
            </a:pathLst>
          </a:custGeom>
          <a:solidFill>
            <a:srgbClr val="0078D4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8620125" y="1149102"/>
            <a:ext cx="9525" cy="2561927"/>
          </a:xfrm>
          <a:custGeom>
            <a:avLst/>
            <a:gdLst/>
            <a:ahLst/>
            <a:cxnLst/>
            <a:rect l="l" t="t" r="r" b="b"/>
            <a:pathLst>
              <a:path w="9525" h="2561927">
                <a:moveTo>
                  <a:pt x="0" y="68620"/>
                </a:moveTo>
                <a:lnTo>
                  <a:pt x="1191" y="71454"/>
                </a:lnTo>
                <a:lnTo>
                  <a:pt x="2381" y="74525"/>
                </a:lnTo>
                <a:lnTo>
                  <a:pt x="3572" y="77893"/>
                </a:lnTo>
                <a:lnTo>
                  <a:pt x="4763" y="81650"/>
                </a:lnTo>
                <a:lnTo>
                  <a:pt x="5953" y="85949"/>
                </a:lnTo>
                <a:lnTo>
                  <a:pt x="7144" y="91090"/>
                </a:lnTo>
                <a:lnTo>
                  <a:pt x="8334" y="97845"/>
                </a:lnTo>
                <a:lnTo>
                  <a:pt x="9525" y="114300"/>
                </a:lnTo>
                <a:lnTo>
                  <a:pt x="9525" y="2447627"/>
                </a:lnTo>
                <a:lnTo>
                  <a:pt x="8334" y="2464082"/>
                </a:lnTo>
                <a:lnTo>
                  <a:pt x="7144" y="2470837"/>
                </a:lnTo>
                <a:lnTo>
                  <a:pt x="5953" y="2475978"/>
                </a:lnTo>
                <a:lnTo>
                  <a:pt x="4763" y="2480277"/>
                </a:lnTo>
                <a:lnTo>
                  <a:pt x="3572" y="2484034"/>
                </a:lnTo>
                <a:lnTo>
                  <a:pt x="2381" y="2487402"/>
                </a:lnTo>
                <a:lnTo>
                  <a:pt x="1191" y="2490473"/>
                </a:lnTo>
                <a:lnTo>
                  <a:pt x="0" y="2493308"/>
                </a:lnTo>
                <a:close/>
              </a:path>
            </a:pathLst>
          </a:custGeom>
          <a:solidFill>
            <a:srgbClr val="0078D4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6248846" y="1149102"/>
            <a:ext cx="2380804" cy="28575"/>
          </a:xfrm>
          <a:custGeom>
            <a:avLst/>
            <a:gdLst/>
            <a:ahLst/>
            <a:cxnLst/>
            <a:rect l="l" t="t" r="r" b="b"/>
            <a:pathLst>
              <a:path w="2380804" h="28575">
                <a:moveTo>
                  <a:pt x="114300" y="0"/>
                </a:moveTo>
                <a:lnTo>
                  <a:pt x="85949" y="3572"/>
                </a:lnTo>
                <a:lnTo>
                  <a:pt x="74525" y="7144"/>
                </a:lnTo>
                <a:lnTo>
                  <a:pt x="65981" y="10716"/>
                </a:lnTo>
                <a:lnTo>
                  <a:pt x="58965" y="14288"/>
                </a:lnTo>
                <a:lnTo>
                  <a:pt x="52951" y="17859"/>
                </a:lnTo>
                <a:lnTo>
                  <a:pt x="47668" y="21431"/>
                </a:lnTo>
                <a:lnTo>
                  <a:pt x="42952" y="25003"/>
                </a:lnTo>
                <a:lnTo>
                  <a:pt x="38698" y="28575"/>
                </a:lnTo>
                <a:lnTo>
                  <a:pt x="2342106" y="28575"/>
                </a:lnTo>
                <a:lnTo>
                  <a:pt x="2337852" y="25003"/>
                </a:lnTo>
                <a:lnTo>
                  <a:pt x="2333136" y="21431"/>
                </a:lnTo>
                <a:lnTo>
                  <a:pt x="2327852" y="17859"/>
                </a:lnTo>
                <a:lnTo>
                  <a:pt x="2321839" y="14288"/>
                </a:lnTo>
                <a:lnTo>
                  <a:pt x="2314823" y="10716"/>
                </a:lnTo>
                <a:lnTo>
                  <a:pt x="2306278" y="7144"/>
                </a:lnTo>
                <a:lnTo>
                  <a:pt x="2294854" y="3572"/>
                </a:lnTo>
                <a:lnTo>
                  <a:pt x="2266504" y="0"/>
                </a:lnTo>
                <a:close/>
              </a:path>
            </a:pathLst>
          </a:custGeom>
          <a:solidFill>
            <a:srgbClr val="0EA17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6458992" y="1406277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0EA17A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8501" y="1525786"/>
            <a:ext cx="160883" cy="16088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458992" y="1934468"/>
            <a:ext cx="1905698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46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Source of Truth</a:t>
            </a:r>
            <a:endParaRPr lang="en-US" sz="1460" dirty="0"/>
          </a:p>
        </p:txBody>
      </p:sp>
      <p:sp>
        <p:nvSpPr>
          <p:cNvPr id="38" name="Text 28"/>
          <p:cNvSpPr/>
          <p:nvPr/>
        </p:nvSpPr>
        <p:spPr>
          <a:xfrm>
            <a:off x="6458992" y="2218581"/>
            <a:ext cx="1999723" cy="99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reads from the same data. Always consistent, always current — finance, ops, and engineering are finally on the same page.</a:t>
            </a:r>
            <a:endParaRPr lang="en-US" sz="960" dirty="0"/>
          </a:p>
        </p:txBody>
      </p:sp>
      <p:sp>
        <p:nvSpPr>
          <p:cNvPr id="39" name="Text 29"/>
          <p:cNvSpPr/>
          <p:nvPr/>
        </p:nvSpPr>
        <p:spPr>
          <a:xfrm>
            <a:off x="6458992" y="3291036"/>
            <a:ext cx="1339980" cy="209848"/>
          </a:xfrm>
          <a:prstGeom prst="roundRect">
            <a:avLst>
              <a:gd name="adj" fmla="val 337097"/>
            </a:avLst>
          </a:prstGeom>
          <a:solidFill>
            <a:srgbClr val="0EA17A">
              <a:alpha val="12000"/>
            </a:srgbClr>
          </a:solidFill>
          <a:ln/>
        </p:spPr>
        <p:txBody>
          <a:bodyPr wrap="none" lIns="208250" tIns="35560" rIns="100330" bIns="3556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0E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&amp; Current</a:t>
            </a:r>
            <a:endParaRPr lang="en-US" sz="73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25378" y="3329592"/>
            <a:ext cx="132588" cy="13258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gradFill rotWithShape="1">
            <a:gsLst>
              <a:gs pos="0">
                <a:srgbClr val="0F2D4A"/>
              </a:gs>
              <a:gs pos="60000">
                <a:srgbClr val="0D3D60"/>
              </a:gs>
              <a:gs pos="100000">
                <a:srgbClr val="0F4A72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23849" y="4848532"/>
            <a:ext cx="132588" cy="13258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2858244" y="4812953"/>
            <a:ext cx="3602787" cy="203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5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 Fabric is built on top of this foundation.</a:t>
            </a:r>
            <a:endParaRPr lang="en-US" sz="1070" dirty="0"/>
          </a:p>
        </p:txBody>
      </p:sp>
      <p:sp>
        <p:nvSpPr>
          <p:cNvPr id="44" name="Text 32"/>
          <p:cNvSpPr/>
          <p:nvPr/>
        </p:nvSpPr>
        <p:spPr>
          <a:xfrm>
            <a:off x="6247805" y="4890195"/>
            <a:ext cx="49411" cy="49411"/>
          </a:xfrm>
          <a:prstGeom prst="ellipse">
            <a:avLst/>
          </a:prstGeom>
          <a:solidFill>
            <a:srgbClr val="0078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93293" y="4848606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-10000" t="-20000" r="110000" b="1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10000">
                <a:srgbClr val="FFFFFF"/>
              </a:gs>
              <a:gs pos="0">
                <a:srgbClr val="0078D4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78D4"/>
              </a:gs>
              <a:gs pos="70000">
                <a:srgbClr val="2B9BF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90925" y="1166495"/>
            <a:ext cx="200620" cy="13841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0078D4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52415" y="2056934"/>
            <a:ext cx="200620" cy="13841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0078D4">
                  <a:alpha val="30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90925" y="3107512"/>
            <a:ext cx="200620" cy="13841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0078D4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52415" y="3997950"/>
            <a:ext cx="200620" cy="13841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0078D4">
                  <a:alpha val="30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07855" y="1401366"/>
            <a:ext cx="128141" cy="128141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F2D4A"/>
            </a:solidFill>
          </a:ln>
          <a:effectLst>
            <a:outerShdw blurRad="101600" dist="50800" dir="16200000" algn="bl" rotWithShape="0">
              <a:srgbClr val="0078D4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07855" y="2371874"/>
            <a:ext cx="128141" cy="128141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F2D4A"/>
            </a:solidFill>
          </a:ln>
          <a:effectLst>
            <a:outerShdw blurRad="101600" dist="50800" dir="16200000" algn="bl" rotWithShape="0">
              <a:srgbClr val="0078D4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7855" y="3342382"/>
            <a:ext cx="128141" cy="128141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F2D4A"/>
            </a:solidFill>
          </a:ln>
          <a:effectLst>
            <a:outerShdw blurRad="101600" dist="50800" dir="16200000" algn="bl" rotWithShape="0">
              <a:srgbClr val="0078D4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7855" y="4232821"/>
            <a:ext cx="128141" cy="128141"/>
          </a:xfrm>
          <a:prstGeom prst="ellipse">
            <a:avLst/>
          </a:prstGeom>
          <a:solidFill>
            <a:srgbClr val="0078D4"/>
          </a:solidFill>
          <a:ln w="19050">
            <a:solidFill>
              <a:srgbClr val="0F2D4A"/>
            </a:solidFill>
          </a:ln>
          <a:effectLst>
            <a:outerShdw blurRad="101600" dist="50800" dir="16200000" algn="bl" rotWithShape="0">
              <a:srgbClr val="0078D4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285750"/>
            <a:ext cx="34290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78D4"/>
              </a:gs>
              <a:gs pos="100000">
                <a:srgbClr val="2B9BF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372070"/>
            <a:ext cx="8805672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kern="0" spc="-19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Moving Data Around: </a:t>
            </a:r>
            <a:r>
              <a:rPr lang="en-US" sz="1910" b="1" kern="0" spc="-19" dirty="0">
                <a:solidFill>
                  <a:srgbClr val="2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Data Engineering</a:t>
            </a:r>
            <a:endParaRPr lang="en-US" sz="1910" dirty="0"/>
          </a:p>
        </p:txBody>
      </p:sp>
      <p:sp>
        <p:nvSpPr>
          <p:cNvPr id="17" name="Text 15"/>
          <p:cNvSpPr/>
          <p:nvPr/>
        </p:nvSpPr>
        <p:spPr>
          <a:xfrm>
            <a:off x="457200" y="694134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40"/>
              </a:spcBef>
              <a:buNone/>
            </a:pPr>
            <a:r>
              <a:rPr lang="en-US" sz="96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does not move by itself — it needs a route.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561210" y="1020366"/>
            <a:ext cx="21580" cy="372189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0078D4"/>
              </a:gs>
              <a:gs pos="92000">
                <a:srgbClr val="0078D4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1028700"/>
            <a:ext cx="3143250" cy="873621"/>
          </a:xfrm>
          <a:prstGeom prst="roundRect">
            <a:avLst>
              <a:gd name="adj" fmla="val 9885"/>
            </a:avLst>
          </a:prstGeom>
          <a:solidFill>
            <a:srgbClr val="1A3F5C"/>
          </a:solidFill>
          <a:ln w="9525">
            <a:solidFill>
              <a:srgbClr val="0078D4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0195" y="1152525"/>
            <a:ext cx="820936" cy="226260"/>
          </a:xfrm>
          <a:prstGeom prst="roundRect">
            <a:avLst>
              <a:gd name="adj" fmla="val 63427"/>
            </a:avLst>
          </a:prstGeom>
          <a:solidFill>
            <a:srgbClr val="0078D4">
              <a:alpha val="15000"/>
            </a:srgbClr>
          </a:solidFill>
          <a:ln w="9525">
            <a:solidFill>
              <a:srgbClr val="0078D4">
                <a:alpha val="35000"/>
              </a:srgbClr>
            </a:solidFill>
          </a:ln>
        </p:spPr>
        <p:txBody>
          <a:bodyPr wrap="none" lIns="264140" tIns="21590" rIns="86360" bIns="2159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2B9B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76870" y="1183630"/>
            <a:ext cx="157460" cy="173206"/>
          </a:xfrm>
          <a:prstGeom prst="ellipse">
            <a:avLst/>
          </a:prstGeom>
          <a:solidFill>
            <a:srgbClr val="0078D4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kern="0" spc="2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610195" y="1472357"/>
            <a:ext cx="257770" cy="257770"/>
          </a:xfrm>
          <a:prstGeom prst="ellipse">
            <a:avLst/>
          </a:prstGeom>
          <a:solidFill>
            <a:srgbClr val="0078D4">
              <a:alpha val="18000"/>
            </a:srgbClr>
          </a:solidFill>
          <a:ln w="9525">
            <a:solidFill>
              <a:srgbClr val="0078D4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786" y="1534948"/>
            <a:ext cx="132588" cy="1325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54286" y="1458516"/>
            <a:ext cx="2543032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route data travels along — like a water pipeline from reservoir to home.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5543550" y="1919139"/>
            <a:ext cx="3143250" cy="1033611"/>
          </a:xfrm>
          <a:prstGeom prst="roundRect">
            <a:avLst>
              <a:gd name="adj" fmla="val 8355"/>
            </a:avLst>
          </a:prstGeom>
          <a:solidFill>
            <a:srgbClr val="1A3F5C"/>
          </a:solidFill>
          <a:ln w="9525">
            <a:solidFill>
              <a:srgbClr val="0078D4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696545" y="2042964"/>
            <a:ext cx="1116806" cy="226260"/>
          </a:xfrm>
          <a:prstGeom prst="roundRect">
            <a:avLst>
              <a:gd name="adj" fmla="val 63427"/>
            </a:avLst>
          </a:prstGeom>
          <a:solidFill>
            <a:srgbClr val="0078D4">
              <a:alpha val="15000"/>
            </a:srgbClr>
          </a:solidFill>
          <a:ln w="9525">
            <a:solidFill>
              <a:srgbClr val="0078D4">
                <a:alpha val="35000"/>
              </a:srgbClr>
            </a:solidFill>
          </a:ln>
        </p:spPr>
        <p:txBody>
          <a:bodyPr wrap="none" lIns="264140" tIns="21590" rIns="86360" bIns="2159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2B9B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FACTORY</a:t>
            </a:r>
            <a:endParaRPr lang="en-US" sz="730" dirty="0"/>
          </a:p>
        </p:txBody>
      </p:sp>
      <p:sp>
        <p:nvSpPr>
          <p:cNvPr id="27" name="Text 24"/>
          <p:cNvSpPr/>
          <p:nvPr/>
        </p:nvSpPr>
        <p:spPr>
          <a:xfrm>
            <a:off x="5763220" y="2074069"/>
            <a:ext cx="157460" cy="173206"/>
          </a:xfrm>
          <a:prstGeom prst="ellipse">
            <a:avLst/>
          </a:prstGeom>
          <a:solidFill>
            <a:srgbClr val="0078D4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kern="0" spc="2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28" name="Text 25"/>
          <p:cNvSpPr/>
          <p:nvPr/>
        </p:nvSpPr>
        <p:spPr>
          <a:xfrm>
            <a:off x="5696545" y="2362795"/>
            <a:ext cx="257770" cy="257770"/>
          </a:xfrm>
          <a:prstGeom prst="ellipse">
            <a:avLst/>
          </a:prstGeom>
          <a:solidFill>
            <a:srgbClr val="0078D4">
              <a:alpha val="18000"/>
            </a:srgbClr>
          </a:solidFill>
          <a:ln w="9525">
            <a:solidFill>
              <a:srgbClr val="0078D4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9136" y="2425386"/>
            <a:ext cx="132588" cy="1325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040636" y="2348954"/>
            <a:ext cx="2543032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that lets you build and manage pipelines — connect to hundreds of sources without complex code.</a:t>
            </a:r>
            <a:endParaRPr lang="en-US" sz="840" dirty="0"/>
          </a:p>
        </p:txBody>
      </p:sp>
      <p:sp>
        <p:nvSpPr>
          <p:cNvPr id="31" name="Text 27"/>
          <p:cNvSpPr/>
          <p:nvPr/>
        </p:nvSpPr>
        <p:spPr>
          <a:xfrm>
            <a:off x="457200" y="2969716"/>
            <a:ext cx="3143250" cy="873621"/>
          </a:xfrm>
          <a:prstGeom prst="roundRect">
            <a:avLst>
              <a:gd name="adj" fmla="val 9885"/>
            </a:avLst>
          </a:prstGeom>
          <a:solidFill>
            <a:srgbClr val="1A3F5C"/>
          </a:solidFill>
          <a:ln w="9525">
            <a:solidFill>
              <a:srgbClr val="0078D4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10195" y="3093541"/>
            <a:ext cx="1342579" cy="226260"/>
          </a:xfrm>
          <a:prstGeom prst="roundRect">
            <a:avLst>
              <a:gd name="adj" fmla="val 63427"/>
            </a:avLst>
          </a:prstGeom>
          <a:solidFill>
            <a:srgbClr val="0078D4">
              <a:alpha val="15000"/>
            </a:srgbClr>
          </a:solidFill>
          <a:ln w="9525">
            <a:solidFill>
              <a:srgbClr val="0078D4">
                <a:alpha val="35000"/>
              </a:srgbClr>
            </a:solidFill>
          </a:ln>
        </p:spPr>
        <p:txBody>
          <a:bodyPr wrap="none" lIns="264140" tIns="21590" rIns="86360" bIns="2159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2B9B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ENGINEERING</a:t>
            </a:r>
            <a:endParaRPr lang="en-US" sz="730" dirty="0"/>
          </a:p>
        </p:txBody>
      </p:sp>
      <p:sp>
        <p:nvSpPr>
          <p:cNvPr id="33" name="Text 29"/>
          <p:cNvSpPr/>
          <p:nvPr/>
        </p:nvSpPr>
        <p:spPr>
          <a:xfrm>
            <a:off x="676870" y="3124646"/>
            <a:ext cx="157460" cy="173206"/>
          </a:xfrm>
          <a:prstGeom prst="ellipse">
            <a:avLst/>
          </a:prstGeom>
          <a:solidFill>
            <a:srgbClr val="0078D4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kern="0" spc="2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34" name="Text 30"/>
          <p:cNvSpPr/>
          <p:nvPr/>
        </p:nvSpPr>
        <p:spPr>
          <a:xfrm>
            <a:off x="610195" y="3413373"/>
            <a:ext cx="257770" cy="257770"/>
          </a:xfrm>
          <a:prstGeom prst="ellipse">
            <a:avLst/>
          </a:prstGeom>
          <a:solidFill>
            <a:srgbClr val="0078D4">
              <a:alpha val="18000"/>
            </a:srgbClr>
          </a:solidFill>
          <a:ln w="9525">
            <a:solidFill>
              <a:srgbClr val="0078D4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786" y="3475964"/>
            <a:ext cx="132588" cy="13258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54286" y="3399532"/>
            <a:ext cx="2543032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building, and maintaining all systems — the architects and plumbers of data.</a:t>
            </a:r>
            <a:endParaRPr lang="en-US" sz="840" dirty="0"/>
          </a:p>
        </p:txBody>
      </p:sp>
      <p:sp>
        <p:nvSpPr>
          <p:cNvPr id="37" name="Text 32"/>
          <p:cNvSpPr/>
          <p:nvPr/>
        </p:nvSpPr>
        <p:spPr>
          <a:xfrm>
            <a:off x="5543550" y="3860155"/>
            <a:ext cx="3143250" cy="873621"/>
          </a:xfrm>
          <a:prstGeom prst="roundRect">
            <a:avLst>
              <a:gd name="adj" fmla="val 9885"/>
            </a:avLst>
          </a:prstGeom>
          <a:gradFill rotWithShape="1">
            <a:gsLst>
              <a:gs pos="60000">
                <a:srgbClr val="1A3F5C"/>
              </a:gs>
              <a:gs pos="100000">
                <a:srgbClr val="0078D4">
                  <a:alpha val="8000"/>
                </a:srgbClr>
              </a:gs>
            </a:gsLst>
            <a:lin ang="2700000" scaled="1"/>
          </a:gradFill>
          <a:ln w="9525">
            <a:solidFill>
              <a:srgbClr val="2B9BF4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696545" y="3983980"/>
            <a:ext cx="1025277" cy="226260"/>
          </a:xfrm>
          <a:prstGeom prst="roundRect">
            <a:avLst>
              <a:gd name="adj" fmla="val 63427"/>
            </a:avLst>
          </a:prstGeom>
          <a:solidFill>
            <a:srgbClr val="2B9BF4">
              <a:alpha val="18000"/>
            </a:srgbClr>
          </a:solidFill>
          <a:ln w="9525">
            <a:solidFill>
              <a:srgbClr val="2B9BF4">
                <a:alpha val="45000"/>
              </a:srgbClr>
            </a:solidFill>
          </a:ln>
        </p:spPr>
        <p:txBody>
          <a:bodyPr wrap="none" lIns="264140" tIns="21590" rIns="86360" bIns="2159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2B9B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AUTOMATION</a:t>
            </a:r>
            <a:endParaRPr lang="en-US" sz="730" dirty="0"/>
          </a:p>
        </p:txBody>
      </p:sp>
      <p:sp>
        <p:nvSpPr>
          <p:cNvPr id="39" name="Text 34"/>
          <p:cNvSpPr/>
          <p:nvPr/>
        </p:nvSpPr>
        <p:spPr>
          <a:xfrm>
            <a:off x="5763220" y="4015085"/>
            <a:ext cx="157460" cy="173206"/>
          </a:xfrm>
          <a:prstGeom prst="ellipse">
            <a:avLst/>
          </a:prstGeom>
          <a:solidFill>
            <a:srgbClr val="0078D4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kern="0" spc="2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 dirty="0"/>
          </a:p>
        </p:txBody>
      </p:sp>
      <p:sp>
        <p:nvSpPr>
          <p:cNvPr id="40" name="Text 35"/>
          <p:cNvSpPr/>
          <p:nvPr/>
        </p:nvSpPr>
        <p:spPr>
          <a:xfrm>
            <a:off x="5696545" y="4303812"/>
            <a:ext cx="257770" cy="257770"/>
          </a:xfrm>
          <a:prstGeom prst="ellipse">
            <a:avLst/>
          </a:prstGeom>
          <a:solidFill>
            <a:srgbClr val="2B9BF4">
              <a:alpha val="20000"/>
            </a:srgbClr>
          </a:solidFill>
          <a:ln w="9525">
            <a:solidFill>
              <a:srgbClr val="2B9BF4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59136" y="4366403"/>
            <a:ext cx="132588" cy="13258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040636" y="4289971"/>
            <a:ext cx="2543032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schedule or triggers automatically when new data arrives. No manual work needed.</a:t>
            </a:r>
            <a:endParaRPr lang="en-US" sz="84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7766" y="4783791"/>
            <a:ext cx="132588" cy="13258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738789" y="4785420"/>
            <a:ext cx="214281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· DATA ENGINEERING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7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8000" t="88000" r="92000" b="12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5000"/>
                </a:srgbClr>
              </a:gs>
              <a:gs pos="35000">
                <a:srgbClr val="000000">
                  <a:alpha val="0"/>
                </a:srgbClr>
              </a:gs>
            </a:gsLst>
            <a:path path="circle">
              <a:fillToRect l="92000" t="12000" r="8000" b="88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6000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745" y="922437"/>
            <a:ext cx="4066584" cy="21580"/>
          </a:xfrm>
          <a:custGeom>
            <a:avLst/>
            <a:gdLst/>
            <a:ahLst/>
            <a:cxnLst/>
            <a:rect l="l" t="t" r="r" b="b"/>
            <a:pathLst>
              <a:path w="4066584" h="21580">
                <a:moveTo>
                  <a:pt x="114300" y="0"/>
                </a:moveTo>
                <a:lnTo>
                  <a:pt x="3952284" y="0"/>
                </a:lnTo>
                <a:lnTo>
                  <a:pt x="3976970" y="2698"/>
                </a:lnTo>
                <a:lnTo>
                  <a:pt x="3986986" y="5395"/>
                </a:lnTo>
                <a:lnTo>
                  <a:pt x="3994527" y="8093"/>
                </a:lnTo>
                <a:lnTo>
                  <a:pt x="4000763" y="10790"/>
                </a:lnTo>
                <a:lnTo>
                  <a:pt x="4006148" y="13488"/>
                </a:lnTo>
                <a:lnTo>
                  <a:pt x="4010918" y="16185"/>
                </a:lnTo>
                <a:lnTo>
                  <a:pt x="4015213" y="18883"/>
                </a:lnTo>
                <a:lnTo>
                  <a:pt x="401912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38675" y="922437"/>
            <a:ext cx="4066584" cy="21580"/>
          </a:xfrm>
          <a:custGeom>
            <a:avLst/>
            <a:gdLst/>
            <a:ahLst/>
            <a:cxnLst/>
            <a:rect l="l" t="t" r="r" b="b"/>
            <a:pathLst>
              <a:path w="4066584" h="21580">
                <a:moveTo>
                  <a:pt x="114300" y="0"/>
                </a:moveTo>
                <a:lnTo>
                  <a:pt x="3952284" y="0"/>
                </a:lnTo>
                <a:lnTo>
                  <a:pt x="3976970" y="2698"/>
                </a:lnTo>
                <a:lnTo>
                  <a:pt x="3986986" y="5395"/>
                </a:lnTo>
                <a:lnTo>
                  <a:pt x="3994527" y="8093"/>
                </a:lnTo>
                <a:lnTo>
                  <a:pt x="4000763" y="10790"/>
                </a:lnTo>
                <a:lnTo>
                  <a:pt x="4006148" y="13488"/>
                </a:lnTo>
                <a:lnTo>
                  <a:pt x="4010918" y="16185"/>
                </a:lnTo>
                <a:lnTo>
                  <a:pt x="4015213" y="18883"/>
                </a:lnTo>
                <a:lnTo>
                  <a:pt x="401912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745" y="2515642"/>
            <a:ext cx="4066584" cy="21580"/>
          </a:xfrm>
          <a:custGeom>
            <a:avLst/>
            <a:gdLst/>
            <a:ahLst/>
            <a:cxnLst/>
            <a:rect l="l" t="t" r="r" b="b"/>
            <a:pathLst>
              <a:path w="4066584" h="21580">
                <a:moveTo>
                  <a:pt x="114300" y="0"/>
                </a:moveTo>
                <a:lnTo>
                  <a:pt x="3952284" y="0"/>
                </a:lnTo>
                <a:lnTo>
                  <a:pt x="3976970" y="2698"/>
                </a:lnTo>
                <a:lnTo>
                  <a:pt x="3986986" y="5395"/>
                </a:lnTo>
                <a:lnTo>
                  <a:pt x="3994527" y="8093"/>
                </a:lnTo>
                <a:lnTo>
                  <a:pt x="4000763" y="10790"/>
                </a:lnTo>
                <a:lnTo>
                  <a:pt x="4006148" y="13488"/>
                </a:lnTo>
                <a:lnTo>
                  <a:pt x="4010918" y="16185"/>
                </a:lnTo>
                <a:lnTo>
                  <a:pt x="4015213" y="18883"/>
                </a:lnTo>
                <a:lnTo>
                  <a:pt x="401912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38675" y="2515642"/>
            <a:ext cx="4066584" cy="21580"/>
          </a:xfrm>
          <a:custGeom>
            <a:avLst/>
            <a:gdLst/>
            <a:ahLst/>
            <a:cxnLst/>
            <a:rect l="l" t="t" r="r" b="b"/>
            <a:pathLst>
              <a:path w="4066584" h="21580">
                <a:moveTo>
                  <a:pt x="114300" y="0"/>
                </a:moveTo>
                <a:lnTo>
                  <a:pt x="3952284" y="0"/>
                </a:lnTo>
                <a:lnTo>
                  <a:pt x="3976970" y="2698"/>
                </a:lnTo>
                <a:lnTo>
                  <a:pt x="3986986" y="5395"/>
                </a:lnTo>
                <a:lnTo>
                  <a:pt x="3994527" y="8093"/>
                </a:lnTo>
                <a:lnTo>
                  <a:pt x="4000763" y="10790"/>
                </a:lnTo>
                <a:lnTo>
                  <a:pt x="4006148" y="13488"/>
                </a:lnTo>
                <a:lnTo>
                  <a:pt x="4010918" y="16185"/>
                </a:lnTo>
                <a:lnTo>
                  <a:pt x="4015213" y="18883"/>
                </a:lnTo>
                <a:lnTo>
                  <a:pt x="4019124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9220" y="243780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727" y="320287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1291" y="244822"/>
            <a:ext cx="3003541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3"/>
              </a:lnSpc>
              <a:buNone/>
            </a:pPr>
            <a:r>
              <a:rPr lang="en-US" sz="2030" b="1" kern="0" spc="-20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That Never Sleeps</a:t>
            </a:r>
            <a:endParaRPr lang="en-US" sz="2030" dirty="0"/>
          </a:p>
        </p:txBody>
      </p:sp>
      <p:sp>
        <p:nvSpPr>
          <p:cNvPr id="12" name="Text 9"/>
          <p:cNvSpPr/>
          <p:nvPr/>
        </p:nvSpPr>
        <p:spPr>
          <a:xfrm>
            <a:off x="429220" y="572691"/>
            <a:ext cx="4486171" cy="182761"/>
          </a:xfrm>
          <a:prstGeom prst="rect">
            <a:avLst/>
          </a:prstGeom>
          <a:noFill/>
          <a:ln/>
        </p:spPr>
        <p:txBody>
          <a:bodyPr wrap="none" lIns="37211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 cannot wait hours — it needs to be acted on </a:t>
            </a:r>
            <a:r>
              <a:rPr lang="en-US" sz="96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seconds.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7272338" y="286941"/>
            <a:ext cx="462852" cy="180231"/>
          </a:xfrm>
          <a:prstGeom prst="roundRect">
            <a:avLst>
              <a:gd name="adj" fmla="val 79626"/>
            </a:avLst>
          </a:prstGeom>
          <a:solidFill>
            <a:srgbClr val="FFF0F0"/>
          </a:solidFill>
          <a:ln w="9525">
            <a:solidFill>
              <a:srgbClr val="DC2626">
                <a:alpha val="20000"/>
              </a:srgbClr>
            </a:solidFill>
          </a:ln>
        </p:spPr>
        <p:txBody>
          <a:bodyPr wrap="none" lIns="15748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7339012" y="348407"/>
            <a:ext cx="57150" cy="57150"/>
          </a:xfrm>
          <a:prstGeom prst="ellipse">
            <a:avLst/>
          </a:prstGeom>
          <a:solidFill>
            <a:srgbClr val="DC262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346603" y="355997"/>
            <a:ext cx="41970" cy="41970"/>
          </a:xfrm>
          <a:prstGeom prst="ellipse">
            <a:avLst/>
          </a:prstGeom>
          <a:solidFill>
            <a:srgbClr val="DC262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797105" y="307479"/>
            <a:ext cx="100944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429220" y="912912"/>
            <a:ext cx="4085630" cy="147890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9525">
            <a:solidFill>
              <a:srgbClr val="0078D4">
                <a:alpha val="13000"/>
              </a:srgbClr>
            </a:solidFill>
          </a:ln>
          <a:effectLst>
            <a:outerShdw blurRad="171450" dist="29210" dir="5400000" algn="bl" rotWithShape="0">
              <a:srgbClr val="0078D4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39366" y="1123057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E8F3F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94" y="1233785"/>
            <a:ext cx="150465" cy="1504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25736" y="1123057"/>
            <a:ext cx="916141" cy="145703"/>
          </a:xfrm>
          <a:prstGeom prst="roundRect">
            <a:avLst>
              <a:gd name="adj" fmla="val 98495"/>
            </a:avLst>
          </a:prstGeom>
          <a:solidFill>
            <a:srgbClr val="E8F3FC"/>
          </a:soli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1125736" y="1282601"/>
            <a:ext cx="349686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Eventstream</a:t>
            </a:r>
            <a:endParaRPr lang="en-US" sz="1130" dirty="0"/>
          </a:p>
        </p:txBody>
      </p:sp>
      <p:sp>
        <p:nvSpPr>
          <p:cNvPr id="22" name="Text 18"/>
          <p:cNvSpPr/>
          <p:nvPr/>
        </p:nvSpPr>
        <p:spPr>
          <a:xfrm>
            <a:off x="639366" y="1566118"/>
            <a:ext cx="373864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ticker of data streaming in </a:t>
            </a:r>
            <a:r>
              <a:rPr lang="en-US" sz="84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</a:t>
            </a:r>
            <a:r>
              <a:rPr lang="en-US" sz="84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any source — apps, sensors, devices, websites — all in real time.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639366" y="2029420"/>
            <a:ext cx="3138934" cy="43160"/>
          </a:xfrm>
          <a:prstGeom prst="roundRect">
            <a:avLst>
              <a:gd name="adj" fmla="val 67678"/>
            </a:avLst>
          </a:prstGeom>
          <a:solidFill>
            <a:srgbClr val="E8F3F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39366" y="2029420"/>
            <a:ext cx="2040285" cy="43160"/>
          </a:xfrm>
          <a:prstGeom prst="roundRect">
            <a:avLst>
              <a:gd name="adj" fmla="val 67678"/>
            </a:avLst>
          </a:pr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835450" y="1986260"/>
            <a:ext cx="51618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Ingesting…</a:t>
            </a:r>
            <a:endParaRPr lang="en-US" sz="680" dirty="0"/>
          </a:p>
        </p:txBody>
      </p:sp>
      <p:sp>
        <p:nvSpPr>
          <p:cNvPr id="26" name="Text 22"/>
          <p:cNvSpPr/>
          <p:nvPr/>
        </p:nvSpPr>
        <p:spPr>
          <a:xfrm>
            <a:off x="438745" y="2360712"/>
            <a:ext cx="203329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78D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629150" y="912912"/>
            <a:ext cx="4085630" cy="1478905"/>
          </a:xfrm>
          <a:prstGeom prst="roundRect">
            <a:avLst>
              <a:gd name="adj" fmla="val 7729"/>
            </a:avLst>
          </a:prstGeom>
          <a:gradFill rotWithShape="1">
            <a:gsLst>
              <a:gs pos="0">
                <a:srgbClr val="F0F8FF"/>
              </a:gs>
              <a:gs pos="100000">
                <a:srgbClr val="E6F3FB"/>
              </a:gs>
            </a:gsLst>
            <a:lin ang="2700000" scaled="1"/>
          </a:gradFill>
          <a:ln w="9525">
            <a:solidFill>
              <a:srgbClr val="0078D4">
                <a:alpha val="13000"/>
              </a:srgbClr>
            </a:solidFill>
          </a:ln>
          <a:effectLst>
            <a:outerShdw blurRad="171450" dist="29210" dir="5400000" algn="bl" rotWithShape="0">
              <a:srgbClr val="0078D4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839295" y="1123057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0078D4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0023" y="1233785"/>
            <a:ext cx="150465" cy="15046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325666" y="1123057"/>
            <a:ext cx="776785" cy="145703"/>
          </a:xfrm>
          <a:prstGeom prst="roundRect">
            <a:avLst>
              <a:gd name="adj" fmla="val 98495"/>
            </a:avLst>
          </a:prstGeom>
          <a:solidFill>
            <a:srgbClr val="E8F3FC"/>
          </a:soli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620" dirty="0"/>
          </a:p>
        </p:txBody>
      </p:sp>
      <p:sp>
        <p:nvSpPr>
          <p:cNvPr id="31" name="Text 26"/>
          <p:cNvSpPr/>
          <p:nvPr/>
        </p:nvSpPr>
        <p:spPr>
          <a:xfrm>
            <a:off x="5325666" y="1282601"/>
            <a:ext cx="349686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Intelligence</a:t>
            </a:r>
            <a:endParaRPr lang="en-US" sz="1130" dirty="0"/>
          </a:p>
        </p:txBody>
      </p:sp>
      <p:sp>
        <p:nvSpPr>
          <p:cNvPr id="32" name="Text 27"/>
          <p:cNvSpPr/>
          <p:nvPr/>
        </p:nvSpPr>
        <p:spPr>
          <a:xfrm>
            <a:off x="4839295" y="1566118"/>
            <a:ext cx="373864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process and </a:t>
            </a:r>
            <a:r>
              <a:rPr lang="en-US" sz="84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 the instant it is created</a:t>
            </a:r>
            <a:r>
              <a:rPr lang="en-US" sz="84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waiting for batch jobs or overnight processing cycles.</a:t>
            </a:r>
            <a:endParaRPr lang="en-US" sz="840" dirty="0"/>
          </a:p>
        </p:txBody>
      </p:sp>
      <p:sp>
        <p:nvSpPr>
          <p:cNvPr id="33" name="Text 28"/>
          <p:cNvSpPr/>
          <p:nvPr/>
        </p:nvSpPr>
        <p:spPr>
          <a:xfrm>
            <a:off x="4839295" y="2029420"/>
            <a:ext cx="43160" cy="43160"/>
          </a:xfrm>
          <a:prstGeom prst="ellipse">
            <a:avLst/>
          </a:prstGeom>
          <a:solidFill>
            <a:srgbClr val="0078D4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4911626" y="2029420"/>
            <a:ext cx="43160" cy="43160"/>
          </a:xfrm>
          <a:prstGeom prst="ellipse">
            <a:avLst/>
          </a:prstGeom>
          <a:solidFill>
            <a:srgbClr val="0078D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983956" y="2029420"/>
            <a:ext cx="43160" cy="43160"/>
          </a:xfrm>
          <a:prstGeom prst="ellipse">
            <a:avLst/>
          </a:prstGeom>
          <a:solidFill>
            <a:srgbClr val="0078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084266" y="1986260"/>
            <a:ext cx="7956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latency</a:t>
            </a:r>
            <a:endParaRPr lang="en-US" sz="680" dirty="0"/>
          </a:p>
        </p:txBody>
      </p:sp>
      <p:sp>
        <p:nvSpPr>
          <p:cNvPr id="37" name="Text 32"/>
          <p:cNvSpPr/>
          <p:nvPr/>
        </p:nvSpPr>
        <p:spPr>
          <a:xfrm>
            <a:off x="429220" y="2506117"/>
            <a:ext cx="4085630" cy="147890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9525">
            <a:solidFill>
              <a:srgbClr val="0078D4">
                <a:alpha val="13000"/>
              </a:srgbClr>
            </a:solidFill>
          </a:ln>
          <a:effectLst>
            <a:outerShdw blurRad="171450" dist="29210" dir="5400000" algn="bl" rotWithShape="0">
              <a:srgbClr val="0078D4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39366" y="2716262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E8F3F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094" y="2826990"/>
            <a:ext cx="150465" cy="150465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125736" y="2716262"/>
            <a:ext cx="996446" cy="145703"/>
          </a:xfrm>
          <a:prstGeom prst="roundRect">
            <a:avLst>
              <a:gd name="adj" fmla="val 98495"/>
            </a:avLst>
          </a:prstGeom>
          <a:solidFill>
            <a:srgbClr val="E8F3FC"/>
          </a:soli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</a:t>
            </a:r>
            <a:endParaRPr lang="en-US" sz="620" dirty="0"/>
          </a:p>
        </p:txBody>
      </p:sp>
      <p:sp>
        <p:nvSpPr>
          <p:cNvPr id="41" name="Text 35"/>
          <p:cNvSpPr/>
          <p:nvPr/>
        </p:nvSpPr>
        <p:spPr>
          <a:xfrm>
            <a:off x="1125736" y="2875806"/>
            <a:ext cx="349686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KQL</a:t>
            </a:r>
            <a:endParaRPr lang="en-US" sz="1130" dirty="0"/>
          </a:p>
        </p:txBody>
      </p:sp>
      <p:sp>
        <p:nvSpPr>
          <p:cNvPr id="42" name="Text 36"/>
          <p:cNvSpPr/>
          <p:nvPr/>
        </p:nvSpPr>
        <p:spPr>
          <a:xfrm>
            <a:off x="639366" y="3159323"/>
            <a:ext cx="373864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 Query Language</a:t>
            </a:r>
            <a:r>
              <a:rPr lang="en-US" sz="84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ask questions of live data and get answers in seconds. Purpose-built for speed on streaming, time-series datasets.</a:t>
            </a:r>
            <a:endParaRPr lang="en-US" sz="840" dirty="0"/>
          </a:p>
        </p:txBody>
      </p:sp>
      <p:sp>
        <p:nvSpPr>
          <p:cNvPr id="43" name="Text 37"/>
          <p:cNvSpPr/>
          <p:nvPr/>
        </p:nvSpPr>
        <p:spPr>
          <a:xfrm>
            <a:off x="639366" y="3550295"/>
            <a:ext cx="3738646" cy="228302"/>
          </a:xfrm>
          <a:prstGeom prst="roundRect">
            <a:avLst>
              <a:gd name="adj" fmla="val 25033"/>
            </a:avLst>
          </a:prstGeom>
          <a:solidFill>
            <a:srgbClr val="F0F4F8"/>
          </a:solidFill>
          <a:ln/>
        </p:spPr>
        <p:txBody>
          <a:bodyPr wrap="none" lIns="86360" tIns="49530" rIns="86360" bIns="4953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Bikes</a:t>
            </a:r>
            <a:r>
              <a:rPr lang="en-US" sz="680" dirty="0">
                <a:solidFill>
                  <a:srgbClr val="2D5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where Station == </a:t>
            </a:r>
            <a:r>
              <a:rPr lang="en-US" sz="680" dirty="0">
                <a:solidFill>
                  <a:srgbClr val="D04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"London"</a:t>
            </a:r>
            <a:r>
              <a:rPr lang="en-US" sz="680" dirty="0">
                <a:solidFill>
                  <a:srgbClr val="2D5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summarize…</a:t>
            </a:r>
            <a:endParaRPr lang="en-US" sz="680" dirty="0"/>
          </a:p>
        </p:txBody>
      </p:sp>
      <p:sp>
        <p:nvSpPr>
          <p:cNvPr id="44" name="Text 38"/>
          <p:cNvSpPr/>
          <p:nvPr/>
        </p:nvSpPr>
        <p:spPr>
          <a:xfrm>
            <a:off x="639366" y="3550295"/>
            <a:ext cx="19050" cy="228302"/>
          </a:xfrm>
          <a:custGeom>
            <a:avLst/>
            <a:gdLst/>
            <a:ahLst/>
            <a:cxnLst/>
            <a:rect l="l" t="t" r="r" b="b"/>
            <a:pathLst>
              <a:path w="19050" h="228302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13749"/>
                </a:lnTo>
                <a:lnTo>
                  <a:pt x="16669" y="211493"/>
                </a:lnTo>
                <a:lnTo>
                  <a:pt x="14288" y="208954"/>
                </a:lnTo>
                <a:lnTo>
                  <a:pt x="11906" y="206068"/>
                </a:lnTo>
                <a:lnTo>
                  <a:pt x="9525" y="202743"/>
                </a:lnTo>
                <a:lnTo>
                  <a:pt x="7144" y="198820"/>
                </a:lnTo>
                <a:lnTo>
                  <a:pt x="4763" y="193992"/>
                </a:lnTo>
                <a:lnTo>
                  <a:pt x="2381" y="187477"/>
                </a:lnTo>
                <a:lnTo>
                  <a:pt x="0" y="171152"/>
                </a:lnTo>
                <a:close/>
              </a:path>
            </a:pathLst>
          </a:custGeom>
          <a:solidFill>
            <a:srgbClr val="0078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629150" y="2506117"/>
            <a:ext cx="4085630" cy="147890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9525">
            <a:solidFill>
              <a:srgbClr val="0078D4">
                <a:alpha val="13000"/>
              </a:srgbClr>
            </a:solidFill>
          </a:ln>
          <a:effectLst>
            <a:outerShdw blurRad="171450" dist="29210" dir="5400000" algn="bl" rotWithShape="0">
              <a:srgbClr val="0078D4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4839295" y="2716262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E8F3F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0023" y="2826990"/>
            <a:ext cx="150465" cy="150465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325666" y="2716262"/>
            <a:ext cx="959254" cy="145703"/>
          </a:xfrm>
          <a:prstGeom prst="roundRect">
            <a:avLst>
              <a:gd name="adj" fmla="val 98495"/>
            </a:avLst>
          </a:prstGeom>
          <a:solidFill>
            <a:srgbClr val="E8F3FC"/>
          </a:soli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ENGINE</a:t>
            </a:r>
            <a:endParaRPr lang="en-US" sz="620" dirty="0"/>
          </a:p>
        </p:txBody>
      </p:sp>
      <p:sp>
        <p:nvSpPr>
          <p:cNvPr id="49" name="Text 42"/>
          <p:cNvSpPr/>
          <p:nvPr/>
        </p:nvSpPr>
        <p:spPr>
          <a:xfrm>
            <a:off x="5325666" y="2875806"/>
            <a:ext cx="349686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Eventhouse</a:t>
            </a:r>
            <a:endParaRPr lang="en-US" sz="1130" dirty="0"/>
          </a:p>
        </p:txBody>
      </p:sp>
      <p:sp>
        <p:nvSpPr>
          <p:cNvPr id="50" name="Text 43"/>
          <p:cNvSpPr/>
          <p:nvPr/>
        </p:nvSpPr>
        <p:spPr>
          <a:xfrm>
            <a:off x="4839295" y="3159323"/>
            <a:ext cx="373864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database built </a:t>
            </a:r>
            <a:r>
              <a:rPr lang="en-US" sz="84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 for streaming, time-sensitive data</a:t>
            </a:r>
            <a:r>
              <a:rPr lang="en-US" sz="84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ingests millions of events per second without breaking a sweat.</a:t>
            </a:r>
            <a:endParaRPr lang="en-US" sz="840" dirty="0"/>
          </a:p>
        </p:txBody>
      </p:sp>
      <p:sp>
        <p:nvSpPr>
          <p:cNvPr id="51" name="Text 44"/>
          <p:cNvSpPr/>
          <p:nvPr/>
        </p:nvSpPr>
        <p:spPr>
          <a:xfrm>
            <a:off x="4839295" y="3665786"/>
            <a:ext cx="35421" cy="57150"/>
          </a:xfrm>
          <a:prstGeom prst="ellipse">
            <a:avLst/>
          </a:prstGeom>
          <a:solidFill>
            <a:srgbClr val="0078D4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4896296" y="3630364"/>
            <a:ext cx="35421" cy="92571"/>
          </a:xfrm>
          <a:prstGeom prst="roundRect">
            <a:avLst>
              <a:gd name="adj" fmla="val 39440"/>
            </a:avLst>
          </a:prstGeom>
          <a:solidFill>
            <a:srgbClr val="0078D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4953298" y="3651945"/>
            <a:ext cx="35421" cy="70991"/>
          </a:xfrm>
          <a:prstGeom prst="roundRect">
            <a:avLst>
              <a:gd name="adj" fmla="val 39440"/>
            </a:avLst>
          </a:prstGeom>
          <a:solidFill>
            <a:srgbClr val="0078D4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5010299" y="3594795"/>
            <a:ext cx="35421" cy="128141"/>
          </a:xfrm>
          <a:prstGeom prst="roundRect">
            <a:avLst>
              <a:gd name="adj" fmla="val 39440"/>
            </a:avLst>
          </a:prstGeom>
          <a:solidFill>
            <a:srgbClr val="0078D4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5067300" y="3622625"/>
            <a:ext cx="35421" cy="100310"/>
          </a:xfrm>
          <a:prstGeom prst="roundRect">
            <a:avLst>
              <a:gd name="adj" fmla="val 39440"/>
            </a:avLst>
          </a:prstGeom>
          <a:solidFill>
            <a:srgbClr val="0078D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5124301" y="3579465"/>
            <a:ext cx="35421" cy="143470"/>
          </a:xfrm>
          <a:prstGeom prst="roundRect">
            <a:avLst>
              <a:gd name="adj" fmla="val 39440"/>
            </a:avLst>
          </a:prstGeom>
          <a:solidFill>
            <a:srgbClr val="0078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5216872" y="3586460"/>
            <a:ext cx="95361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events / sec</a:t>
            </a:r>
            <a:endParaRPr lang="en-US" sz="680" dirty="0"/>
          </a:p>
        </p:txBody>
      </p:sp>
      <p:sp>
        <p:nvSpPr>
          <p:cNvPr id="58" name="Text 51"/>
          <p:cNvSpPr/>
          <p:nvPr/>
        </p:nvSpPr>
        <p:spPr>
          <a:xfrm>
            <a:off x="429220" y="4099322"/>
            <a:ext cx="8285559" cy="462558"/>
          </a:xfrm>
          <a:prstGeom prst="roundRect">
            <a:avLst>
              <a:gd name="adj" fmla="val 18670"/>
            </a:avLst>
          </a:prstGeom>
          <a:gradFill rotWithShape="1">
            <a:gsLst>
              <a:gs pos="0">
                <a:srgbClr val="0F2D4A"/>
              </a:gs>
              <a:gs pos="100000">
                <a:srgbClr val="1A3F5C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629841" y="4194721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0078D4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9352" y="4264232"/>
            <a:ext cx="132588" cy="132588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1001911" y="4312890"/>
            <a:ext cx="35421" cy="35421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1137642" y="4271516"/>
            <a:ext cx="121964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620" dirty="0"/>
          </a:p>
        </p:txBody>
      </p:sp>
      <p:sp>
        <p:nvSpPr>
          <p:cNvPr id="63" name="Text 55"/>
          <p:cNvSpPr/>
          <p:nvPr/>
        </p:nvSpPr>
        <p:spPr>
          <a:xfrm>
            <a:off x="2346722" y="4312890"/>
            <a:ext cx="35421" cy="35421"/>
          </a:xfrm>
          <a:prstGeom prst="ellipse">
            <a:avLst/>
          </a:prstGeom>
          <a:solidFill>
            <a:srgbClr val="0078D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2482453" y="4191893"/>
            <a:ext cx="5577456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84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</a:t>
            </a: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many bikes are available</a:t>
            </a:r>
            <a:r>
              <a:rPr lang="en-US" sz="84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every London station — </a:t>
            </a: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now.</a:t>
            </a:r>
            <a:r>
              <a:rPr lang="en-US" sz="84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10 minutes ago. Not from last night's batch. </a:t>
            </a:r>
            <a:r>
              <a:rPr lang="en-US" sz="840" i="1" dirty="0">
                <a:solidFill>
                  <a:srgbClr val="9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very second.</a:t>
            </a:r>
            <a:endParaRPr lang="en-US" sz="840" dirty="0"/>
          </a:p>
        </p:txBody>
      </p:sp>
      <p:sp>
        <p:nvSpPr>
          <p:cNvPr id="65" name="Text 57"/>
          <p:cNvSpPr/>
          <p:nvPr/>
        </p:nvSpPr>
        <p:spPr>
          <a:xfrm>
            <a:off x="8050857" y="4240411"/>
            <a:ext cx="472568" cy="180231"/>
          </a:xfrm>
          <a:prstGeom prst="roundRect">
            <a:avLst>
              <a:gd name="adj" fmla="val 79626"/>
            </a:avLst>
          </a:prstGeom>
          <a:solidFill>
            <a:srgbClr val="FFF0F0"/>
          </a:solidFill>
          <a:ln w="9525">
            <a:solidFill>
              <a:srgbClr val="DC2626">
                <a:alpha val="20000"/>
              </a:srgbClr>
            </a:solidFill>
          </a:ln>
        </p:spPr>
        <p:txBody>
          <a:bodyPr wrap="none" lIns="15748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620" dirty="0"/>
          </a:p>
        </p:txBody>
      </p:sp>
      <p:sp>
        <p:nvSpPr>
          <p:cNvPr id="66" name="Text 58"/>
          <p:cNvSpPr/>
          <p:nvPr/>
        </p:nvSpPr>
        <p:spPr>
          <a:xfrm>
            <a:off x="8117532" y="4301877"/>
            <a:ext cx="57150" cy="57150"/>
          </a:xfrm>
          <a:prstGeom prst="ellipse">
            <a:avLst/>
          </a:prstGeom>
          <a:solidFill>
            <a:srgbClr val="DC262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8125123" y="4309467"/>
            <a:ext cx="41970" cy="41970"/>
          </a:xfrm>
          <a:prstGeom prst="ellipse">
            <a:avLst/>
          </a:prstGeom>
          <a:solidFill>
            <a:srgbClr val="DC262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30" y="0"/>
            <a:ext cx="4143970" cy="38582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00250"/>
            <a:ext cx="4287441" cy="3143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725" y="1159073"/>
            <a:ext cx="29170" cy="773311"/>
          </a:xfrm>
          <a:custGeom>
            <a:avLst/>
            <a:gdLst/>
            <a:ahLst/>
            <a:cxnLst/>
            <a:rect l="l" t="t" r="r" b="b"/>
            <a:pathLst>
              <a:path w="29170" h="773311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743709"/>
                </a:lnTo>
                <a:lnTo>
                  <a:pt x="25524" y="739840"/>
                </a:lnTo>
                <a:lnTo>
                  <a:pt x="21878" y="735522"/>
                </a:lnTo>
                <a:lnTo>
                  <a:pt x="18231" y="730652"/>
                </a:lnTo>
                <a:lnTo>
                  <a:pt x="14585" y="725077"/>
                </a:lnTo>
                <a:lnTo>
                  <a:pt x="10939" y="718537"/>
                </a:lnTo>
                <a:lnTo>
                  <a:pt x="7293" y="710533"/>
                </a:lnTo>
                <a:lnTo>
                  <a:pt x="3646" y="699784"/>
                </a:lnTo>
                <a:lnTo>
                  <a:pt x="0" y="672981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00B0F0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6725" y="2051745"/>
            <a:ext cx="29170" cy="820936"/>
          </a:xfrm>
          <a:custGeom>
            <a:avLst/>
            <a:gdLst/>
            <a:ahLst/>
            <a:cxnLst/>
            <a:rect l="l" t="t" r="r" b="b"/>
            <a:pathLst>
              <a:path w="29170" h="820936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791334"/>
                </a:lnTo>
                <a:lnTo>
                  <a:pt x="25524" y="787465"/>
                </a:lnTo>
                <a:lnTo>
                  <a:pt x="21878" y="783147"/>
                </a:lnTo>
                <a:lnTo>
                  <a:pt x="18231" y="778277"/>
                </a:lnTo>
                <a:lnTo>
                  <a:pt x="14585" y="772702"/>
                </a:lnTo>
                <a:lnTo>
                  <a:pt x="10939" y="766162"/>
                </a:lnTo>
                <a:lnTo>
                  <a:pt x="7293" y="758158"/>
                </a:lnTo>
                <a:lnTo>
                  <a:pt x="3646" y="747409"/>
                </a:lnTo>
                <a:lnTo>
                  <a:pt x="0" y="720606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00B0F0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66725" y="2992041"/>
            <a:ext cx="29170" cy="773311"/>
          </a:xfrm>
          <a:custGeom>
            <a:avLst/>
            <a:gdLst/>
            <a:ahLst/>
            <a:cxnLst/>
            <a:rect l="l" t="t" r="r" b="b"/>
            <a:pathLst>
              <a:path w="29170" h="773311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743709"/>
                </a:lnTo>
                <a:lnTo>
                  <a:pt x="25524" y="739840"/>
                </a:lnTo>
                <a:lnTo>
                  <a:pt x="21878" y="735522"/>
                </a:lnTo>
                <a:lnTo>
                  <a:pt x="18231" y="730652"/>
                </a:lnTo>
                <a:lnTo>
                  <a:pt x="14585" y="725077"/>
                </a:lnTo>
                <a:lnTo>
                  <a:pt x="10939" y="718537"/>
                </a:lnTo>
                <a:lnTo>
                  <a:pt x="7293" y="710533"/>
                </a:lnTo>
                <a:lnTo>
                  <a:pt x="3646" y="699784"/>
                </a:lnTo>
                <a:lnTo>
                  <a:pt x="0" y="672981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00B0F0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57200" y="363438"/>
            <a:ext cx="257770" cy="257770"/>
          </a:xfrm>
          <a:prstGeom prst="roundRect">
            <a:avLst>
              <a:gd name="adj" fmla="val 22171"/>
            </a:avLst>
          </a:prstGeom>
          <a:gradFill rotWithShape="1">
            <a:gsLst>
              <a:gs pos="0">
                <a:srgbClr val="0078D4"/>
              </a:gs>
              <a:gs pos="100000">
                <a:srgbClr val="00B0F0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717" y="425955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280" y="342900"/>
            <a:ext cx="335658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54"/>
              </a:lnSpc>
              <a:buNone/>
            </a:pPr>
            <a:r>
              <a:rPr lang="en-US" sz="2140" kern="0" spc="-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Turning Data Into </a:t>
            </a:r>
            <a:r>
              <a:rPr lang="en-US" sz="2140" b="1" kern="0" spc="-30" dirty="0">
                <a:solidFill>
                  <a:srgbClr val="00B0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Pictures</a:t>
            </a:r>
            <a:endParaRPr lang="en-US" sz="2140" dirty="0"/>
          </a:p>
        </p:txBody>
      </p:sp>
      <p:sp>
        <p:nvSpPr>
          <p:cNvPr id="12" name="Text 7"/>
          <p:cNvSpPr/>
          <p:nvPr/>
        </p:nvSpPr>
        <p:spPr>
          <a:xfrm>
            <a:off x="813941" y="684907"/>
            <a:ext cx="37207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78D4"/>
              </a:gs>
              <a:gs pos="100000">
                <a:srgbClr val="00B0F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813941" y="777478"/>
            <a:ext cx="64906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560"/>
              </a:spcBef>
              <a:buNone/>
            </a:pPr>
            <a:r>
              <a:rPr lang="en-US" sz="900" kern="0" spc="1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don't want rows of numbers — they want </a:t>
            </a:r>
            <a:r>
              <a:rPr lang="en-US" sz="900" i="1" kern="0" spc="1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story.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57200" y="1149548"/>
            <a:ext cx="6257330" cy="792361"/>
          </a:xfrm>
          <a:prstGeom prst="roundRect">
            <a:avLst>
              <a:gd name="adj" fmla="val 12662"/>
            </a:avLst>
          </a:prstGeom>
          <a:solidFill>
            <a:srgbClr val="1A3F5C"/>
          </a:solidFill>
          <a:ln w="9525">
            <a:solidFill>
              <a:srgbClr val="0078D4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67345" y="1302544"/>
            <a:ext cx="486370" cy="486370"/>
          </a:xfrm>
          <a:prstGeom prst="ellipse">
            <a:avLst/>
          </a:prstGeom>
          <a:solidFill>
            <a:srgbClr val="0078D4">
              <a:alpha val="18000"/>
            </a:srgbClr>
          </a:solidFill>
          <a:ln w="9525">
            <a:solidFill>
              <a:srgbClr val="0078D4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805" y="1460004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54336" y="1358652"/>
            <a:ext cx="60327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10" dirty="0"/>
          </a:p>
        </p:txBody>
      </p:sp>
      <p:sp>
        <p:nvSpPr>
          <p:cNvPr id="18" name="Text 12"/>
          <p:cNvSpPr/>
          <p:nvPr/>
        </p:nvSpPr>
        <p:spPr>
          <a:xfrm>
            <a:off x="1973759" y="1372493"/>
            <a:ext cx="1290638" cy="181228"/>
          </a:xfrm>
          <a:prstGeom prst="roundRect">
            <a:avLst>
              <a:gd name="adj" fmla="val 79188"/>
            </a:avLst>
          </a:prstGeom>
          <a:solidFill>
            <a:srgbClr val="0078D4">
              <a:alpha val="22000"/>
            </a:srgbClr>
          </a:solidFill>
          <a:ln w="9525">
            <a:solidFill>
              <a:srgbClr val="0078D4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MICROSOFT FABRIC</a:t>
            </a:r>
            <a:endParaRPr lang="en-US" sz="620" dirty="0"/>
          </a:p>
        </p:txBody>
      </p:sp>
      <p:sp>
        <p:nvSpPr>
          <p:cNvPr id="19" name="Text 13"/>
          <p:cNvSpPr/>
          <p:nvPr/>
        </p:nvSpPr>
        <p:spPr>
          <a:xfrm>
            <a:off x="1354336" y="1572667"/>
            <a:ext cx="566505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visualization tool inside Microsoft Fabric. Turns raw data into </a:t>
            </a:r>
            <a:r>
              <a:rPr lang="en-US" sz="87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graphs, maps</a:t>
            </a:r>
            <a:r>
              <a:rPr lang="en-US" sz="87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tables.</a:t>
            </a:r>
            <a:endParaRPr lang="en-US" sz="870" dirty="0"/>
          </a:p>
        </p:txBody>
      </p:sp>
      <p:sp>
        <p:nvSpPr>
          <p:cNvPr id="20" name="Text 14"/>
          <p:cNvSpPr/>
          <p:nvPr/>
        </p:nvSpPr>
        <p:spPr>
          <a:xfrm>
            <a:off x="457200" y="2042220"/>
            <a:ext cx="6257330" cy="839986"/>
          </a:xfrm>
          <a:prstGeom prst="roundRect">
            <a:avLst>
              <a:gd name="adj" fmla="val 11944"/>
            </a:avLst>
          </a:prstGeom>
          <a:solidFill>
            <a:srgbClr val="1A3F5C"/>
          </a:solidFill>
          <a:ln w="9525">
            <a:solidFill>
              <a:srgbClr val="0078D4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67345" y="2219027"/>
            <a:ext cx="486370" cy="486370"/>
          </a:xfrm>
          <a:prstGeom prst="ellipse">
            <a:avLst/>
          </a:prstGeom>
          <a:solidFill>
            <a:srgbClr val="0078D4">
              <a:alpha val="18000"/>
            </a:srgbClr>
          </a:solidFill>
          <a:ln w="9525">
            <a:solidFill>
              <a:srgbClr val="0078D4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805" y="2376488"/>
            <a:ext cx="171450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54336" y="2195215"/>
            <a:ext cx="736372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10" dirty="0"/>
          </a:p>
        </p:txBody>
      </p:sp>
      <p:sp>
        <p:nvSpPr>
          <p:cNvPr id="24" name="Text 17"/>
          <p:cNvSpPr/>
          <p:nvPr/>
        </p:nvSpPr>
        <p:spPr>
          <a:xfrm>
            <a:off x="2094756" y="2209056"/>
            <a:ext cx="952500" cy="181228"/>
          </a:xfrm>
          <a:prstGeom prst="roundRect">
            <a:avLst>
              <a:gd name="adj" fmla="val 79188"/>
            </a:avLst>
          </a:prstGeom>
          <a:solidFill>
            <a:srgbClr val="0078D4">
              <a:alpha val="22000"/>
            </a:srgbClr>
          </a:solidFill>
          <a:ln w="9525">
            <a:solidFill>
              <a:srgbClr val="0078D4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VIEW</a:t>
            </a:r>
            <a:endParaRPr lang="en-US" sz="620" dirty="0"/>
          </a:p>
        </p:txBody>
      </p:sp>
      <p:sp>
        <p:nvSpPr>
          <p:cNvPr id="25" name="Text 18"/>
          <p:cNvSpPr/>
          <p:nvPr/>
        </p:nvSpPr>
        <p:spPr>
          <a:xfrm>
            <a:off x="1354336" y="2409230"/>
            <a:ext cx="5253049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car instrument panel — </a:t>
            </a:r>
            <a:r>
              <a:rPr lang="en-US" sz="87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fuel, temperature</a:t>
            </a:r>
            <a:r>
              <a:rPr lang="en-US" sz="87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visible at once. For business: revenue, inventory, alerts.</a:t>
            </a:r>
            <a:endParaRPr lang="en-US" sz="870" dirty="0"/>
          </a:p>
        </p:txBody>
      </p:sp>
      <p:sp>
        <p:nvSpPr>
          <p:cNvPr id="26" name="Text 19"/>
          <p:cNvSpPr/>
          <p:nvPr/>
        </p:nvSpPr>
        <p:spPr>
          <a:xfrm>
            <a:off x="457200" y="2982516"/>
            <a:ext cx="6257330" cy="792361"/>
          </a:xfrm>
          <a:prstGeom prst="roundRect">
            <a:avLst>
              <a:gd name="adj" fmla="val 12662"/>
            </a:avLst>
          </a:prstGeom>
          <a:solidFill>
            <a:srgbClr val="1A3F5C"/>
          </a:solidFill>
          <a:ln w="9525">
            <a:solidFill>
              <a:srgbClr val="0078D4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667345" y="3135511"/>
            <a:ext cx="486370" cy="486370"/>
          </a:xfrm>
          <a:prstGeom prst="ellipse">
            <a:avLst/>
          </a:prstGeom>
          <a:solidFill>
            <a:srgbClr val="0078D4">
              <a:alpha val="18000"/>
            </a:srgbClr>
          </a:solidFill>
          <a:ln w="9525">
            <a:solidFill>
              <a:srgbClr val="0078D4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4805" y="3292971"/>
            <a:ext cx="171450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54336" y="3191619"/>
            <a:ext cx="87732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010" dirty="0"/>
          </a:p>
        </p:txBody>
      </p:sp>
      <p:sp>
        <p:nvSpPr>
          <p:cNvPr id="30" name="Text 22"/>
          <p:cNvSpPr/>
          <p:nvPr/>
        </p:nvSpPr>
        <p:spPr>
          <a:xfrm>
            <a:off x="2222897" y="3205460"/>
            <a:ext cx="917377" cy="181228"/>
          </a:xfrm>
          <a:prstGeom prst="roundRect">
            <a:avLst>
              <a:gd name="adj" fmla="val 79188"/>
            </a:avLst>
          </a:prstGeom>
          <a:solidFill>
            <a:srgbClr val="0078D4">
              <a:alpha val="22000"/>
            </a:srgbClr>
          </a:solidFill>
          <a:ln w="9525">
            <a:solidFill>
              <a:srgbClr val="0078D4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620" dirty="0"/>
          </a:p>
        </p:txBody>
      </p:sp>
      <p:sp>
        <p:nvSpPr>
          <p:cNvPr id="31" name="Text 23"/>
          <p:cNvSpPr/>
          <p:nvPr/>
        </p:nvSpPr>
        <p:spPr>
          <a:xfrm>
            <a:off x="1354336" y="3405634"/>
            <a:ext cx="566505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87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real-time data — the dashboard </a:t>
            </a:r>
            <a:r>
              <a:rPr lang="en-US" sz="87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automatically.</a:t>
            </a:r>
            <a:r>
              <a:rPr lang="en-US" sz="87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manual refresh needed.</a:t>
            </a:r>
            <a:endParaRPr lang="en-US" sz="870" dirty="0"/>
          </a:p>
        </p:txBody>
      </p:sp>
      <p:sp>
        <p:nvSpPr>
          <p:cNvPr id="32" name="Text 24"/>
          <p:cNvSpPr/>
          <p:nvPr/>
        </p:nvSpPr>
        <p:spPr>
          <a:xfrm>
            <a:off x="457200" y="4506069"/>
            <a:ext cx="6257330" cy="379661"/>
          </a:xfrm>
          <a:prstGeom prst="roundRect">
            <a:avLst>
              <a:gd name="adj" fmla="val 18733"/>
            </a:avLst>
          </a:prstGeom>
          <a:gradFill rotWithShape="1">
            <a:gsLst>
              <a:gs pos="0">
                <a:srgbClr val="0078D4">
                  <a:alpha val="15000"/>
                </a:srgbClr>
              </a:gs>
              <a:gs pos="100000">
                <a:srgbClr val="00B0F0">
                  <a:alpha val="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457200" y="4506069"/>
            <a:ext cx="28575" cy="379661"/>
          </a:xfrm>
          <a:custGeom>
            <a:avLst/>
            <a:gdLst/>
            <a:ahLst/>
            <a:cxnLst/>
            <a:rect l="l" t="t" r="r" b="b"/>
            <a:pathLst>
              <a:path w="28575" h="379661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365532"/>
                </a:lnTo>
                <a:lnTo>
                  <a:pt x="25003" y="362682"/>
                </a:lnTo>
                <a:lnTo>
                  <a:pt x="21431" y="359424"/>
                </a:lnTo>
                <a:lnTo>
                  <a:pt x="17859" y="355672"/>
                </a:lnTo>
                <a:lnTo>
                  <a:pt x="14288" y="351297"/>
                </a:lnTo>
                <a:lnTo>
                  <a:pt x="10716" y="346082"/>
                </a:lnTo>
                <a:lnTo>
                  <a:pt x="7144" y="339606"/>
                </a:lnTo>
                <a:lnTo>
                  <a:pt x="3572" y="330796"/>
                </a:lnTo>
                <a:lnTo>
                  <a:pt x="0" y="308541"/>
                </a:lnTo>
                <a:close/>
              </a:path>
            </a:pathLst>
          </a:custGeom>
          <a:solidFill>
            <a:srgbClr val="0078D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9941" y="4629605"/>
            <a:ext cx="132588" cy="132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89546" y="4615904"/>
            <a:ext cx="349211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bike is rented in London, </a:t>
            </a:r>
            <a:r>
              <a:rPr lang="en-US" sz="84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reflects it.</a:t>
            </a:r>
            <a:endParaRPr lang="en-US" sz="840" dirty="0"/>
          </a:p>
        </p:txBody>
      </p:sp>
      <p:sp>
        <p:nvSpPr>
          <p:cNvPr id="36" name="Text 27"/>
          <p:cNvSpPr/>
          <p:nvPr/>
        </p:nvSpPr>
        <p:spPr>
          <a:xfrm>
            <a:off x="7000280" y="0"/>
            <a:ext cx="9525" cy="5143500"/>
          </a:xfrm>
          <a:prstGeom prst="rect">
            <a:avLst/>
          </a:prstGeom>
          <a:solidFill>
            <a:srgbClr val="0078D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7290792" y="1491853"/>
            <a:ext cx="1572220" cy="1749623"/>
          </a:xfrm>
          <a:prstGeom prst="roundRect">
            <a:avLst>
              <a:gd name="adj" fmla="val 5493"/>
            </a:avLst>
          </a:prstGeom>
          <a:solidFill>
            <a:srgbClr val="122B42"/>
          </a:solidFill>
          <a:ln w="9525">
            <a:solidFill>
              <a:srgbClr val="0078D4">
                <a:alpha val="30000"/>
              </a:srgbClr>
            </a:solidFill>
          </a:ln>
          <a:effectLst>
            <a:outerShdw blurRad="228600" dist="57150" dir="54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9"/>
          <p:cNvSpPr/>
          <p:nvPr/>
        </p:nvSpPr>
        <p:spPr>
          <a:xfrm>
            <a:off x="7300317" y="1501378"/>
            <a:ext cx="1553170" cy="220861"/>
          </a:xfrm>
          <a:prstGeom prst="rect">
            <a:avLst/>
          </a:prstGeom>
          <a:solidFill>
            <a:srgbClr val="0D203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7300317" y="1712714"/>
            <a:ext cx="1553170" cy="9525"/>
          </a:xfrm>
          <a:prstGeom prst="rect">
            <a:avLst/>
          </a:prstGeom>
          <a:solidFill>
            <a:srgbClr val="0078D4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7386638" y="1582341"/>
            <a:ext cx="49411" cy="49411"/>
          </a:xfrm>
          <a:prstGeom prst="ellipse">
            <a:avLst/>
          </a:prstGeom>
          <a:solidFill>
            <a:srgbClr val="E74C3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7479209" y="1582341"/>
            <a:ext cx="49411" cy="49411"/>
          </a:xfrm>
          <a:prstGeom prst="ellipse">
            <a:avLst/>
          </a:prstGeom>
          <a:solidFill>
            <a:srgbClr val="F39C1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7571780" y="1582341"/>
            <a:ext cx="49411" cy="49411"/>
          </a:xfrm>
          <a:prstGeom prst="ellipse">
            <a:avLst/>
          </a:prstGeom>
          <a:solidFill>
            <a:srgbClr val="2ECC7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7707511" y="1558528"/>
            <a:ext cx="70739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510" dirty="0"/>
          </a:p>
        </p:txBody>
      </p:sp>
      <p:sp>
        <p:nvSpPr>
          <p:cNvPr id="44" name="Text 35"/>
          <p:cNvSpPr/>
          <p:nvPr/>
        </p:nvSpPr>
        <p:spPr>
          <a:xfrm>
            <a:off x="7300317" y="2093714"/>
            <a:ext cx="1553170" cy="9525"/>
          </a:xfrm>
          <a:prstGeom prst="rect">
            <a:avLst/>
          </a:prstGeom>
          <a:solidFill>
            <a:srgbClr val="0078D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7295108" y="1722239"/>
            <a:ext cx="531316" cy="371475"/>
          </a:xfrm>
          <a:prstGeom prst="rect">
            <a:avLst/>
          </a:prstGeom>
          <a:noFill/>
          <a:ln/>
        </p:spPr>
        <p:txBody>
          <a:bodyPr wrap="none" lIns="71120" tIns="57150" rIns="71120" bIns="5715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£2.4M</a:t>
            </a:r>
            <a:endParaRPr lang="en-US" sz="900" dirty="0"/>
          </a:p>
          <a:p>
            <a:pPr marL="0" indent="0" algn="ctr">
              <a:buNone/>
            </a:pPr>
            <a:r>
              <a:rPr lang="en-US" sz="45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7811691" y="1722239"/>
            <a:ext cx="9525" cy="371475"/>
          </a:xfrm>
          <a:prstGeom prst="rect">
            <a:avLst/>
          </a:prstGeom>
          <a:solidFill>
            <a:srgbClr val="0078D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7816007" y="1722239"/>
            <a:ext cx="531316" cy="371475"/>
          </a:xfrm>
          <a:prstGeom prst="rect">
            <a:avLst/>
          </a:prstGeom>
          <a:noFill/>
          <a:ln/>
        </p:spPr>
        <p:txBody>
          <a:bodyPr wrap="none" lIns="71120" tIns="57150" rIns="71120" bIns="5715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900" dirty="0"/>
          </a:p>
          <a:p>
            <a:pPr marL="0" indent="0" algn="ctr">
              <a:buNone/>
            </a:pPr>
            <a:r>
              <a:rPr lang="en-US" sz="45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8332589" y="1722239"/>
            <a:ext cx="9525" cy="371475"/>
          </a:xfrm>
          <a:prstGeom prst="rect">
            <a:avLst/>
          </a:prstGeom>
          <a:solidFill>
            <a:srgbClr val="0078D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8394636" y="1779389"/>
            <a:ext cx="4063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943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8394636" y="1950839"/>
            <a:ext cx="40633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45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</a:t>
            </a:r>
            <a:endParaRPr lang="en-US" sz="450" dirty="0"/>
          </a:p>
        </p:txBody>
      </p:sp>
      <p:sp>
        <p:nvSpPr>
          <p:cNvPr id="51" name="Text 42"/>
          <p:cNvSpPr/>
          <p:nvPr/>
        </p:nvSpPr>
        <p:spPr>
          <a:xfrm>
            <a:off x="7386638" y="2174230"/>
            <a:ext cx="151858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kern="0" spc="2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PER HOUR</a:t>
            </a:r>
            <a:endParaRPr lang="en-US" sz="450" dirty="0"/>
          </a:p>
        </p:txBody>
      </p:sp>
      <p:sp>
        <p:nvSpPr>
          <p:cNvPr id="52" name="Text 43"/>
          <p:cNvSpPr/>
          <p:nvPr/>
        </p:nvSpPr>
        <p:spPr>
          <a:xfrm>
            <a:off x="7386638" y="2445395"/>
            <a:ext cx="141536" cy="200620"/>
          </a:xfrm>
          <a:prstGeom prst="roundRect">
            <a:avLst>
              <a:gd name="adj" fmla="val 15254"/>
            </a:avLst>
          </a:prstGeom>
          <a:gradFill rotWithShape="1">
            <a:gsLst>
              <a:gs pos="0">
                <a:srgbClr val="0078D4">
                  <a:alpha val="70000"/>
                </a:srgbClr>
              </a:gs>
              <a:gs pos="100000">
                <a:srgbClr val="00B0F0">
                  <a:alpha val="7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7563594" y="2388245"/>
            <a:ext cx="141684" cy="257770"/>
          </a:xfrm>
          <a:prstGeom prst="roundRect">
            <a:avLst>
              <a:gd name="adj" fmla="val 15238"/>
            </a:avLst>
          </a:prstGeom>
          <a:gradFill rotWithShape="1">
            <a:gsLst>
              <a:gs pos="0">
                <a:srgbClr val="0078D4">
                  <a:alpha val="80000"/>
                </a:srgbClr>
              </a:gs>
              <a:gs pos="100000">
                <a:srgbClr val="00B0F0">
                  <a:alpha val="8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7740700" y="2488555"/>
            <a:ext cx="141536" cy="157460"/>
          </a:xfrm>
          <a:prstGeom prst="roundRect">
            <a:avLst>
              <a:gd name="adj" fmla="val 15254"/>
            </a:avLst>
          </a:prstGeom>
          <a:gradFill rotWithShape="1">
            <a:gsLst>
              <a:gs pos="0">
                <a:srgbClr val="0078D4">
                  <a:alpha val="60000"/>
                </a:srgbClr>
              </a:gs>
              <a:gs pos="100000">
                <a:srgbClr val="00B0F0">
                  <a:alpha val="6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6"/>
          <p:cNvSpPr/>
          <p:nvPr/>
        </p:nvSpPr>
        <p:spPr>
          <a:xfrm>
            <a:off x="7917656" y="2331095"/>
            <a:ext cx="141684" cy="314920"/>
          </a:xfrm>
          <a:prstGeom prst="roundRect">
            <a:avLst>
              <a:gd name="adj" fmla="val 15238"/>
            </a:avLst>
          </a:prstGeom>
          <a:gradFill rotWithShape="1">
            <a:gsLst>
              <a:gs pos="0">
                <a:srgbClr val="0078D4">
                  <a:alpha val="90000"/>
                </a:srgbClr>
              </a:gs>
              <a:gs pos="100000">
                <a:srgbClr val="00B0F0">
                  <a:alpha val="9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8094762" y="2374255"/>
            <a:ext cx="141536" cy="271760"/>
          </a:xfrm>
          <a:prstGeom prst="roundRect">
            <a:avLst>
              <a:gd name="adj" fmla="val 15254"/>
            </a:avLst>
          </a:prstGeom>
          <a:gradFill rotWithShape="1">
            <a:gsLst>
              <a:gs pos="0">
                <a:srgbClr val="0078D4">
                  <a:alpha val="85000"/>
                </a:srgbClr>
              </a:gs>
              <a:gs pos="100000">
                <a:srgbClr val="00B0F0">
                  <a:alpha val="85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8271718" y="2303115"/>
            <a:ext cx="141536" cy="342900"/>
          </a:xfrm>
          <a:prstGeom prst="roundRect">
            <a:avLst>
              <a:gd name="adj" fmla="val 15254"/>
            </a:avLst>
          </a:prstGeom>
          <a:gradFill rotWithShape="1">
            <a:gsLst>
              <a:gs pos="0">
                <a:srgbClr val="0078D4"/>
              </a:gs>
              <a:gs pos="100000">
                <a:srgbClr val="00B0F0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8448675" y="2431405"/>
            <a:ext cx="141536" cy="214610"/>
          </a:xfrm>
          <a:prstGeom prst="roundRect">
            <a:avLst>
              <a:gd name="adj" fmla="val 15254"/>
            </a:avLst>
          </a:prstGeom>
          <a:gradFill rotWithShape="1">
            <a:gsLst>
              <a:gs pos="0">
                <a:srgbClr val="0078D4">
                  <a:alpha val="75000"/>
                </a:srgbClr>
              </a:gs>
              <a:gs pos="100000">
                <a:srgbClr val="00B0F0">
                  <a:alpha val="75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0"/>
          <p:cNvSpPr/>
          <p:nvPr/>
        </p:nvSpPr>
        <p:spPr>
          <a:xfrm>
            <a:off x="8625632" y="2346424"/>
            <a:ext cx="141536" cy="299591"/>
          </a:xfrm>
          <a:prstGeom prst="roundRect">
            <a:avLst>
              <a:gd name="adj" fmla="val 15254"/>
            </a:avLst>
          </a:prstGeom>
          <a:gradFill rotWithShape="1">
            <a:gsLst>
              <a:gs pos="0">
                <a:srgbClr val="0078D4">
                  <a:alpha val="88000"/>
                </a:srgbClr>
              </a:gs>
              <a:gs pos="100000">
                <a:srgbClr val="00B0F0">
                  <a:alpha val="88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1"/>
          <p:cNvSpPr/>
          <p:nvPr/>
        </p:nvSpPr>
        <p:spPr>
          <a:xfrm>
            <a:off x="7386638" y="2724448"/>
            <a:ext cx="43160" cy="43160"/>
          </a:xfrm>
          <a:prstGeom prst="ellipse">
            <a:avLst/>
          </a:prstGeom>
          <a:solidFill>
            <a:srgbClr val="2ECC71"/>
          </a:solidFill>
          <a:ln/>
          <a:effectLst>
            <a:outerShdw blurRad="43180" dist="50800" dir="16200000" algn="bl" rotWithShape="0">
              <a:srgbClr val="2ECC71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2"/>
          <p:cNvSpPr/>
          <p:nvPr/>
        </p:nvSpPr>
        <p:spPr>
          <a:xfrm>
            <a:off x="7465219" y="2703165"/>
            <a:ext cx="78761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Updates every 3s</a:t>
            </a:r>
            <a:endParaRPr lang="en-US" sz="450" dirty="0"/>
          </a:p>
        </p:txBody>
      </p:sp>
      <p:sp>
        <p:nvSpPr>
          <p:cNvPr id="62" name="Text 53"/>
          <p:cNvSpPr/>
          <p:nvPr/>
        </p:nvSpPr>
        <p:spPr>
          <a:xfrm>
            <a:off x="7386638" y="2846040"/>
            <a:ext cx="1380530" cy="314920"/>
          </a:xfrm>
          <a:prstGeom prst="roundRect">
            <a:avLst>
              <a:gd name="adj" fmla="val 13711"/>
            </a:avLst>
          </a:prstGeom>
          <a:solidFill>
            <a:srgbClr val="0D2035"/>
          </a:solidFill>
          <a:ln w="9525">
            <a:solidFill>
              <a:srgbClr val="0078D4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02298" y="2937132"/>
            <a:ext cx="132588" cy="132588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7763321" y="2954982"/>
            <a:ext cx="83525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Bike Network Map</a:t>
            </a:r>
            <a:endParaRPr lang="en-US" sz="510" dirty="0"/>
          </a:p>
        </p:txBody>
      </p:sp>
      <p:sp>
        <p:nvSpPr>
          <p:cNvPr id="65" name="Text 55"/>
          <p:cNvSpPr/>
          <p:nvPr/>
        </p:nvSpPr>
        <p:spPr>
          <a:xfrm>
            <a:off x="7503914" y="3412927"/>
            <a:ext cx="11459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620" dirty="0"/>
          </a:p>
        </p:txBody>
      </p:sp>
      <p:sp>
        <p:nvSpPr>
          <p:cNvPr id="66" name="Text 56"/>
          <p:cNvSpPr/>
          <p:nvPr/>
        </p:nvSpPr>
        <p:spPr>
          <a:xfrm>
            <a:off x="7503914" y="3544788"/>
            <a:ext cx="11459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90B4CE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auto-refreshing · no manual work</a:t>
            </a:r>
            <a:endParaRPr lang="en-US" sz="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6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88000" t="80000" r="12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5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12000" t="20000" r="88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3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973634"/>
            <a:ext cx="3780834" cy="29170"/>
          </a:xfrm>
          <a:custGeom>
            <a:avLst/>
            <a:gdLst/>
            <a:ahLst/>
            <a:cxnLst/>
            <a:rect l="l" t="t" r="r" b="b"/>
            <a:pathLst>
              <a:path w="3780834" h="29170">
                <a:moveTo>
                  <a:pt x="114300" y="0"/>
                </a:moveTo>
                <a:lnTo>
                  <a:pt x="3666534" y="0"/>
                </a:lnTo>
                <a:lnTo>
                  <a:pt x="3695174" y="3646"/>
                </a:lnTo>
                <a:lnTo>
                  <a:pt x="3706708" y="7293"/>
                </a:lnTo>
                <a:lnTo>
                  <a:pt x="3715330" y="10939"/>
                </a:lnTo>
                <a:lnTo>
                  <a:pt x="3722404" y="14585"/>
                </a:lnTo>
                <a:lnTo>
                  <a:pt x="3728464" y="18231"/>
                </a:lnTo>
                <a:lnTo>
                  <a:pt x="3733785" y="21878"/>
                </a:lnTo>
                <a:lnTo>
                  <a:pt x="3738530" y="25524"/>
                </a:lnTo>
                <a:lnTo>
                  <a:pt x="374280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96445" y="973634"/>
            <a:ext cx="3780834" cy="29170"/>
          </a:xfrm>
          <a:custGeom>
            <a:avLst/>
            <a:gdLst/>
            <a:ahLst/>
            <a:cxnLst/>
            <a:rect l="l" t="t" r="r" b="b"/>
            <a:pathLst>
              <a:path w="3780834" h="29170">
                <a:moveTo>
                  <a:pt x="114300" y="0"/>
                </a:moveTo>
                <a:lnTo>
                  <a:pt x="3666534" y="0"/>
                </a:lnTo>
                <a:lnTo>
                  <a:pt x="3695174" y="3646"/>
                </a:lnTo>
                <a:lnTo>
                  <a:pt x="3706708" y="7293"/>
                </a:lnTo>
                <a:lnTo>
                  <a:pt x="3715330" y="10939"/>
                </a:lnTo>
                <a:lnTo>
                  <a:pt x="3722404" y="14585"/>
                </a:lnTo>
                <a:lnTo>
                  <a:pt x="3728464" y="18231"/>
                </a:lnTo>
                <a:lnTo>
                  <a:pt x="3733785" y="21878"/>
                </a:lnTo>
                <a:lnTo>
                  <a:pt x="3738530" y="25524"/>
                </a:lnTo>
                <a:lnTo>
                  <a:pt x="374280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78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57770"/>
            <a:ext cx="2223028" cy="176361"/>
          </a:xfrm>
          <a:prstGeom prst="roundRect">
            <a:avLst>
              <a:gd name="adj" fmla="val 81373"/>
            </a:avLst>
          </a:prstGeom>
          <a:solidFill>
            <a:srgbClr val="0078D4"/>
          </a:solidFill>
          <a:ln/>
        </p:spPr>
        <p:txBody>
          <a:bodyPr wrap="none" lIns="182820" tIns="29210" rIns="86360" bIns="29210" rtlCol="0" anchor="ctr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· WORKLOAD 4 OF 6</a:t>
            </a:r>
            <a:endParaRPr lang="en-US" sz="62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867" y="279583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91282"/>
            <a:ext cx="8805672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14"/>
              </a:lnSpc>
              <a:buNone/>
            </a:pPr>
            <a:r>
              <a:rPr lang="en-US" sz="2360" kern="0" spc="-30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Teaching Computers to </a:t>
            </a:r>
            <a:r>
              <a:rPr lang="en-US" sz="2360" b="1" kern="0" spc="-30" dirty="0">
                <a:solidFill>
                  <a:srgbClr val="0078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Think</a:t>
            </a:r>
            <a:endParaRPr lang="en-US" sz="2360" dirty="0"/>
          </a:p>
        </p:txBody>
      </p:sp>
      <p:sp>
        <p:nvSpPr>
          <p:cNvPr id="10" name="Text 7"/>
          <p:cNvSpPr/>
          <p:nvPr/>
        </p:nvSpPr>
        <p:spPr>
          <a:xfrm>
            <a:off x="457200" y="964109"/>
            <a:ext cx="3799880" cy="2489597"/>
          </a:xfrm>
          <a:prstGeom prst="roundRect">
            <a:avLst>
              <a:gd name="adj" fmla="val 4591"/>
            </a:avLst>
          </a:prstGeom>
          <a:gradFill rotWithShape="1">
            <a:gsLst>
              <a:gs pos="0">
                <a:srgbClr val="FFFFFF"/>
              </a:gs>
              <a:gs pos="100000">
                <a:srgbClr val="E8F2FC"/>
              </a:gs>
            </a:gsLst>
            <a:lin ang="3300000" scaled="1"/>
          </a:gradFill>
          <a:ln w="9525">
            <a:solidFill>
              <a:srgbClr val="0078D4">
                <a:alpha val="13000"/>
              </a:srgbClr>
            </a:solidFill>
          </a:ln>
          <a:effectLst>
            <a:outerShdw blurRad="171450" dist="29210" dir="5400000" algn="bl" rotWithShape="0">
              <a:srgbClr val="0078D4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7345" y="1145084"/>
            <a:ext cx="372070" cy="372070"/>
          </a:xfrm>
          <a:prstGeom prst="roundRect">
            <a:avLst>
              <a:gd name="adj" fmla="val 26965"/>
            </a:avLst>
          </a:prstGeom>
          <a:gradFill rotWithShape="1">
            <a:gsLst>
              <a:gs pos="0">
                <a:srgbClr val="0078D4"/>
              </a:gs>
              <a:gs pos="100000">
                <a:srgbClr val="005FA3"/>
              </a:gs>
            </a:gsLst>
            <a:lin ang="2700000" scaled="1"/>
          </a:gradFill>
          <a:ln/>
          <a:effectLst>
            <a:outerShdw blurRad="86360" dist="29210" dir="5400000" algn="bl" rotWithShape="0">
              <a:srgbClr val="0078D4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073" y="1255812"/>
            <a:ext cx="150465" cy="1504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9726" y="1163538"/>
            <a:ext cx="120409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54" dirty="0">
                <a:solidFill>
                  <a:srgbClr val="4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ANALYSIS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1139726" y="1293019"/>
            <a:ext cx="120409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Science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95796" y="1645295"/>
            <a:ext cx="2004968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patterns in historical data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667345" y="1652885"/>
            <a:ext cx="157460" cy="157460"/>
          </a:xfrm>
          <a:prstGeom prst="ellipse">
            <a:avLst/>
          </a:prstGeom>
          <a:solidFill>
            <a:srgbClr val="D0E8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707" y="1665247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5796" y="1900684"/>
            <a:ext cx="2250862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prediction models from that data</a:t>
            </a:r>
            <a:endParaRPr lang="en-US" sz="960" dirty="0"/>
          </a:p>
        </p:txBody>
      </p:sp>
      <p:sp>
        <p:nvSpPr>
          <p:cNvPr id="19" name="Text 14"/>
          <p:cNvSpPr/>
          <p:nvPr/>
        </p:nvSpPr>
        <p:spPr>
          <a:xfrm>
            <a:off x="667345" y="1908274"/>
            <a:ext cx="157460" cy="157460"/>
          </a:xfrm>
          <a:prstGeom prst="ellipse">
            <a:avLst/>
          </a:prstGeom>
          <a:solidFill>
            <a:srgbClr val="D0E8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707" y="1920636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5796" y="2156073"/>
            <a:ext cx="244387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96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likely to happen next?</a:t>
            </a:r>
            <a:endParaRPr lang="en-US" sz="960" dirty="0"/>
          </a:p>
        </p:txBody>
      </p:sp>
      <p:sp>
        <p:nvSpPr>
          <p:cNvPr id="22" name="Text 16"/>
          <p:cNvSpPr/>
          <p:nvPr/>
        </p:nvSpPr>
        <p:spPr>
          <a:xfrm>
            <a:off x="667345" y="2163663"/>
            <a:ext cx="157460" cy="157460"/>
          </a:xfrm>
          <a:prstGeom prst="ellipse">
            <a:avLst/>
          </a:prstGeom>
          <a:solidFill>
            <a:srgbClr val="D0E8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707" y="2176025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5796" y="2411462"/>
            <a:ext cx="2605623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What will sell most next Tuesday?</a:t>
            </a:r>
            <a:endParaRPr lang="en-US" sz="960" dirty="0"/>
          </a:p>
        </p:txBody>
      </p:sp>
      <p:sp>
        <p:nvSpPr>
          <p:cNvPr id="25" name="Text 18"/>
          <p:cNvSpPr/>
          <p:nvPr/>
        </p:nvSpPr>
        <p:spPr>
          <a:xfrm>
            <a:off x="667345" y="2419052"/>
            <a:ext cx="157460" cy="157460"/>
          </a:xfrm>
          <a:prstGeom prst="ellipse">
            <a:avLst/>
          </a:prstGeom>
          <a:solidFill>
            <a:srgbClr val="FFF3C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07" y="2431414"/>
            <a:ext cx="132588" cy="1325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7345" y="2702421"/>
            <a:ext cx="3379589" cy="9525"/>
          </a:xfrm>
          <a:prstGeom prst="rect">
            <a:avLst/>
          </a:prstGeom>
          <a:solidFill>
            <a:srgbClr val="0078D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667345" y="2812256"/>
            <a:ext cx="37175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4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PATTERN RECOGNITION</a:t>
            </a:r>
            <a:endParaRPr lang="en-US" sz="620" dirty="0"/>
          </a:p>
        </p:txBody>
      </p:sp>
      <p:sp>
        <p:nvSpPr>
          <p:cNvPr id="29" name="Text 21"/>
          <p:cNvSpPr/>
          <p:nvPr/>
        </p:nvSpPr>
        <p:spPr>
          <a:xfrm>
            <a:off x="667345" y="3142208"/>
            <a:ext cx="128141" cy="102989"/>
          </a:xfrm>
          <a:prstGeom prst="roundRect">
            <a:avLst>
              <a:gd name="adj" fmla="val 20963"/>
            </a:avLst>
          </a:prstGeom>
          <a:solidFill>
            <a:srgbClr val="0078D4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830907" y="3103513"/>
            <a:ext cx="128141" cy="141684"/>
          </a:xfrm>
          <a:prstGeom prst="roundRect">
            <a:avLst>
              <a:gd name="adj" fmla="val 16849"/>
            </a:avLst>
          </a:prstGeom>
          <a:solidFill>
            <a:srgbClr val="0078D4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994470" y="3121521"/>
            <a:ext cx="128141" cy="123676"/>
          </a:xfrm>
          <a:prstGeom prst="roundRect">
            <a:avLst>
              <a:gd name="adj" fmla="val 17457"/>
            </a:avLst>
          </a:prstGeom>
          <a:solidFill>
            <a:srgbClr val="0078D4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1158032" y="3064818"/>
            <a:ext cx="128141" cy="180380"/>
          </a:xfrm>
          <a:prstGeom prst="roundRect">
            <a:avLst>
              <a:gd name="adj" fmla="val 16849"/>
            </a:avLst>
          </a:prstGeom>
          <a:solidFill>
            <a:srgbClr val="0078D4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1321594" y="3085505"/>
            <a:ext cx="128141" cy="159693"/>
          </a:xfrm>
          <a:prstGeom prst="roundRect">
            <a:avLst>
              <a:gd name="adj" fmla="val 16849"/>
            </a:avLst>
          </a:prstGeom>
          <a:solidFill>
            <a:srgbClr val="0078D4">
              <a:alpha val="6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1485156" y="3018383"/>
            <a:ext cx="128141" cy="226814"/>
          </a:xfrm>
          <a:prstGeom prst="roundRect">
            <a:avLst>
              <a:gd name="adj" fmla="val 16849"/>
            </a:avLst>
          </a:prstGeom>
          <a:solidFill>
            <a:srgbClr val="0078D4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1648718" y="2987427"/>
            <a:ext cx="128141" cy="257770"/>
          </a:xfrm>
          <a:prstGeom prst="roundRect">
            <a:avLst>
              <a:gd name="adj" fmla="val 16849"/>
            </a:avLst>
          </a:prstGeom>
          <a:solidFill>
            <a:srgbClr val="0078D4"/>
          </a:solidFill>
          <a:ln/>
          <a:effectLst>
            <a:outerShdw blurRad="57150" dist="50800" dir="16200000" algn="bl" rotWithShape="0">
              <a:srgbClr val="0078D4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26725" y="3109326"/>
            <a:ext cx="132588" cy="132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959769" y="3106192"/>
            <a:ext cx="34526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730" dirty="0"/>
          </a:p>
        </p:txBody>
      </p:sp>
      <p:sp>
        <p:nvSpPr>
          <p:cNvPr id="38" name="Text 29"/>
          <p:cNvSpPr/>
          <p:nvPr/>
        </p:nvSpPr>
        <p:spPr>
          <a:xfrm>
            <a:off x="4565005" y="964109"/>
            <a:ext cx="13841" cy="104477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2D9EE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4429125" y="2066032"/>
            <a:ext cx="285750" cy="3143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C2D9EE"/>
            </a:solidFill>
          </a:ln>
          <a:effectLst>
            <a:outerShdw blurRad="57150" dist="13970" dir="5400000" algn="bl" rotWithShape="0">
              <a:srgbClr val="0078D4">
                <a:alpha val="1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730" dirty="0"/>
          </a:p>
        </p:txBody>
      </p:sp>
      <p:sp>
        <p:nvSpPr>
          <p:cNvPr id="40" name="Text 31"/>
          <p:cNvSpPr/>
          <p:nvPr/>
        </p:nvSpPr>
        <p:spPr>
          <a:xfrm>
            <a:off x="4565005" y="2408932"/>
            <a:ext cx="13841" cy="104477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2D9EE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4886920" y="964109"/>
            <a:ext cx="3799880" cy="2489597"/>
          </a:xfrm>
          <a:prstGeom prst="roundRect">
            <a:avLst>
              <a:gd name="adj" fmla="val 4591"/>
            </a:avLst>
          </a:prstGeom>
          <a:gradFill rotWithShape="1">
            <a:gsLst>
              <a:gs pos="0">
                <a:srgbClr val="F0F8FF"/>
              </a:gs>
              <a:gs pos="100000">
                <a:srgbClr val="DDEEFF"/>
              </a:gs>
            </a:gsLst>
            <a:lin ang="3300000" scaled="1"/>
          </a:gradFill>
          <a:ln w="9525">
            <a:solidFill>
              <a:srgbClr val="0078D4">
                <a:alpha val="13000"/>
              </a:srgbClr>
            </a:solidFill>
          </a:ln>
          <a:effectLst>
            <a:outerShdw blurRad="171450" dist="29210" dir="5400000" algn="bl" rotWithShape="0">
              <a:srgbClr val="0078D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5097066" y="1145084"/>
            <a:ext cx="372070" cy="372070"/>
          </a:xfrm>
          <a:prstGeom prst="roundRect">
            <a:avLst>
              <a:gd name="adj" fmla="val 26965"/>
            </a:avLst>
          </a:prstGeom>
          <a:gradFill rotWithShape="1">
            <a:gsLst>
              <a:gs pos="0">
                <a:srgbClr val="00B4D8"/>
              </a:gs>
              <a:gs pos="100000">
                <a:srgbClr val="0078D4"/>
              </a:gs>
            </a:gsLst>
            <a:lin ang="2700000" scaled="1"/>
          </a:gradFill>
          <a:ln/>
          <a:effectLst>
            <a:outerShdw blurRad="86360" dist="29210" dir="5400000" algn="bl" rotWithShape="0">
              <a:srgbClr val="0078D4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07794" y="1255812"/>
            <a:ext cx="150465" cy="15046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569446" y="1163538"/>
            <a:ext cx="194226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54" dirty="0">
                <a:solidFill>
                  <a:srgbClr val="4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SYSTEMS</a:t>
            </a:r>
            <a:endParaRPr lang="en-US" sz="680" dirty="0"/>
          </a:p>
        </p:txBody>
      </p:sp>
      <p:sp>
        <p:nvSpPr>
          <p:cNvPr id="45" name="Text 35"/>
          <p:cNvSpPr/>
          <p:nvPr/>
        </p:nvSpPr>
        <p:spPr>
          <a:xfrm>
            <a:off x="5569446" y="1293019"/>
            <a:ext cx="194226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2D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Machine Learning / AI</a:t>
            </a:r>
            <a:endParaRPr lang="en-US" sz="1350" dirty="0"/>
          </a:p>
        </p:txBody>
      </p:sp>
      <p:sp>
        <p:nvSpPr>
          <p:cNvPr id="46" name="Text 36"/>
          <p:cNvSpPr/>
          <p:nvPr/>
        </p:nvSpPr>
        <p:spPr>
          <a:xfrm>
            <a:off x="5325517" y="1645295"/>
            <a:ext cx="2779812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learns from past data </a:t>
            </a:r>
            <a:r>
              <a:rPr lang="en-US" sz="96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960" dirty="0"/>
          </a:p>
        </p:txBody>
      </p:sp>
      <p:sp>
        <p:nvSpPr>
          <p:cNvPr id="47" name="Text 37"/>
          <p:cNvSpPr/>
          <p:nvPr/>
        </p:nvSpPr>
        <p:spPr>
          <a:xfrm>
            <a:off x="5097066" y="1652885"/>
            <a:ext cx="157460" cy="157460"/>
          </a:xfrm>
          <a:prstGeom prst="ellipse">
            <a:avLst/>
          </a:prstGeom>
          <a:solidFill>
            <a:srgbClr val="D0E8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09427" y="1665247"/>
            <a:ext cx="132588" cy="13258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5325517" y="1900684"/>
            <a:ext cx="308578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patterns without being told what to look for</a:t>
            </a:r>
            <a:endParaRPr lang="en-US" sz="960" dirty="0"/>
          </a:p>
        </p:txBody>
      </p:sp>
      <p:sp>
        <p:nvSpPr>
          <p:cNvPr id="50" name="Text 39"/>
          <p:cNvSpPr/>
          <p:nvPr/>
        </p:nvSpPr>
        <p:spPr>
          <a:xfrm>
            <a:off x="5097066" y="1908274"/>
            <a:ext cx="157460" cy="157460"/>
          </a:xfrm>
          <a:prstGeom prst="ellipse">
            <a:avLst/>
          </a:prstGeom>
          <a:solidFill>
            <a:srgbClr val="D0E8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09427" y="1920636"/>
            <a:ext cx="132588" cy="13258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5325517" y="2156073"/>
            <a:ext cx="2362676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</a:t>
            </a:r>
            <a:r>
              <a:rPr lang="en-US" sz="96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over time</a:t>
            </a:r>
            <a:r>
              <a:rPr lang="en-US" sz="96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more data</a:t>
            </a:r>
            <a:endParaRPr lang="en-US" sz="960" dirty="0"/>
          </a:p>
        </p:txBody>
      </p:sp>
      <p:sp>
        <p:nvSpPr>
          <p:cNvPr id="53" name="Text 41"/>
          <p:cNvSpPr/>
          <p:nvPr/>
        </p:nvSpPr>
        <p:spPr>
          <a:xfrm>
            <a:off x="5097066" y="2163663"/>
            <a:ext cx="157460" cy="157460"/>
          </a:xfrm>
          <a:prstGeom prst="ellipse">
            <a:avLst/>
          </a:prstGeom>
          <a:solidFill>
            <a:srgbClr val="D0E8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9427" y="2176025"/>
            <a:ext cx="132588" cy="132588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5325517" y="2411462"/>
            <a:ext cx="3077766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6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Fabric — </a:t>
            </a:r>
            <a:r>
              <a:rPr lang="en-US" sz="96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system needed</a:t>
            </a:r>
            <a:endParaRPr lang="en-US" sz="960" dirty="0"/>
          </a:p>
        </p:txBody>
      </p:sp>
      <p:sp>
        <p:nvSpPr>
          <p:cNvPr id="56" name="Text 43"/>
          <p:cNvSpPr/>
          <p:nvPr/>
        </p:nvSpPr>
        <p:spPr>
          <a:xfrm>
            <a:off x="5097066" y="2419052"/>
            <a:ext cx="157460" cy="157460"/>
          </a:xfrm>
          <a:prstGeom prst="ellipse">
            <a:avLst/>
          </a:prstGeom>
          <a:solidFill>
            <a:srgbClr val="D0E8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09427" y="2431414"/>
            <a:ext cx="132588" cy="132588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5097066" y="2702421"/>
            <a:ext cx="3379589" cy="9525"/>
          </a:xfrm>
          <a:prstGeom prst="rect">
            <a:avLst/>
          </a:prstGeom>
          <a:solidFill>
            <a:srgbClr val="0078D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5"/>
          <p:cNvSpPr/>
          <p:nvPr/>
        </p:nvSpPr>
        <p:spPr>
          <a:xfrm>
            <a:off x="5097066" y="2812256"/>
            <a:ext cx="37175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4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NEURAL NETWORK</a:t>
            </a:r>
            <a:endParaRPr lang="en-US" sz="620" dirty="0"/>
          </a:p>
        </p:txBody>
      </p:sp>
      <p:sp>
        <p:nvSpPr>
          <p:cNvPr id="60" name="Text 46"/>
          <p:cNvSpPr/>
          <p:nvPr/>
        </p:nvSpPr>
        <p:spPr>
          <a:xfrm>
            <a:off x="5097066" y="2987427"/>
            <a:ext cx="70991" cy="70991"/>
          </a:xfrm>
          <a:prstGeom prst="ellipse">
            <a:avLst/>
          </a:prstGeom>
          <a:solidFill>
            <a:srgbClr val="0078D4">
              <a:alpha val="40000"/>
            </a:srgbClr>
          </a:solidFill>
          <a:ln w="9525">
            <a:solidFill>
              <a:srgbClr val="0078D4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7"/>
          <p:cNvSpPr/>
          <p:nvPr/>
        </p:nvSpPr>
        <p:spPr>
          <a:xfrm>
            <a:off x="5097066" y="3101578"/>
            <a:ext cx="70991" cy="70991"/>
          </a:xfrm>
          <a:prstGeom prst="ellipse">
            <a:avLst/>
          </a:prstGeom>
          <a:solidFill>
            <a:srgbClr val="0078D4">
              <a:alpha val="40000"/>
            </a:srgbClr>
          </a:solidFill>
          <a:ln w="9525">
            <a:solidFill>
              <a:srgbClr val="0078D4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48"/>
          <p:cNvSpPr/>
          <p:nvPr/>
        </p:nvSpPr>
        <p:spPr>
          <a:xfrm>
            <a:off x="5097066" y="3215729"/>
            <a:ext cx="70991" cy="70991"/>
          </a:xfrm>
          <a:prstGeom prst="ellipse">
            <a:avLst/>
          </a:prstGeom>
          <a:solidFill>
            <a:srgbClr val="0078D4">
              <a:alpha val="40000"/>
            </a:srgbClr>
          </a:solidFill>
          <a:ln w="9525">
            <a:solidFill>
              <a:srgbClr val="0078D4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68057" y="3029843"/>
            <a:ext cx="428625" cy="214313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5596682" y="3015258"/>
            <a:ext cx="86320" cy="86320"/>
          </a:xfrm>
          <a:prstGeom prst="ellipse">
            <a:avLst/>
          </a:prstGeom>
          <a:solidFill>
            <a:srgbClr val="0078D4"/>
          </a:solidFill>
          <a:ln/>
          <a:effectLst>
            <a:outerShdw blurRad="57150" dist="50800" dir="16200000" algn="bl" rotWithShape="0">
              <a:srgbClr val="0078D4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0"/>
          <p:cNvSpPr/>
          <p:nvPr/>
        </p:nvSpPr>
        <p:spPr>
          <a:xfrm>
            <a:off x="5596682" y="3172569"/>
            <a:ext cx="86320" cy="86320"/>
          </a:xfrm>
          <a:prstGeom prst="ellipse">
            <a:avLst/>
          </a:prstGeom>
          <a:solidFill>
            <a:srgbClr val="0078D4"/>
          </a:solidFill>
          <a:ln/>
          <a:effectLst>
            <a:outerShdw blurRad="57150" dist="50800" dir="16200000" algn="bl" rotWithShape="0">
              <a:srgbClr val="0078D4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25278" y="3070631"/>
            <a:ext cx="132588" cy="132588"/>
          </a:xfrm>
          <a:prstGeom prst="rect">
            <a:avLst/>
          </a:prstGeom>
        </p:spPr>
      </p:pic>
      <p:sp>
        <p:nvSpPr>
          <p:cNvPr id="67" name="Text 51"/>
          <p:cNvSpPr/>
          <p:nvPr/>
        </p:nvSpPr>
        <p:spPr>
          <a:xfrm>
            <a:off x="5858321" y="3067496"/>
            <a:ext cx="33397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</a:t>
            </a:r>
            <a:endParaRPr lang="en-US" sz="730" dirty="0"/>
          </a:p>
        </p:txBody>
      </p:sp>
      <p:sp>
        <p:nvSpPr>
          <p:cNvPr id="68" name="Text 52"/>
          <p:cNvSpPr/>
          <p:nvPr/>
        </p:nvSpPr>
        <p:spPr>
          <a:xfrm>
            <a:off x="0" y="4757440"/>
            <a:ext cx="9144000" cy="386060"/>
          </a:xfrm>
          <a:prstGeom prst="rect">
            <a:avLst/>
          </a:prstGeom>
          <a:gradFill rotWithShape="1">
            <a:gsLst>
              <a:gs pos="0">
                <a:srgbClr val="0F2D4A"/>
              </a:gs>
              <a:gs pos="60000">
                <a:srgbClr val="1A3F5C"/>
              </a:gs>
              <a:gs pos="100000">
                <a:srgbClr val="0078D4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50352" y="4884176"/>
            <a:ext cx="132588" cy="132588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2351038" y="4870400"/>
            <a:ext cx="508682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 the same </a:t>
            </a:r>
            <a:r>
              <a:rPr lang="en-US" sz="840" b="1" kern="0" spc="8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</a:t>
            </a:r>
            <a:r>
              <a:rPr lang="en-US" sz="840" b="1" kern="0" spc="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— the single source of truth everyone else is already using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20" y="0"/>
            <a:ext cx="4714280" cy="42862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28750"/>
            <a:ext cx="4715470" cy="3714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9575" y="1285726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78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747963" y="2436908"/>
            <a:ext cx="571500" cy="571500"/>
          </a:xfrm>
          <a:prstGeom prst="ellipse">
            <a:avLst/>
          </a:prstGeom>
          <a:solidFill>
            <a:srgbClr val="0078D4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224213" y="1285726"/>
            <a:ext cx="2695423" cy="13841"/>
          </a:xfrm>
          <a:custGeom>
            <a:avLst/>
            <a:gdLst/>
            <a:ahLst/>
            <a:cxnLst/>
            <a:rect l="l" t="t" r="r" b="b"/>
            <a:pathLst>
              <a:path w="2695423" h="13841">
                <a:moveTo>
                  <a:pt x="86360" y="0"/>
                </a:moveTo>
                <a:lnTo>
                  <a:pt x="2609063" y="0"/>
                </a:lnTo>
                <a:lnTo>
                  <a:pt x="2626262" y="1730"/>
                </a:lnTo>
                <a:lnTo>
                  <a:pt x="2633263" y="3460"/>
                </a:lnTo>
                <a:lnTo>
                  <a:pt x="2638551" y="5190"/>
                </a:lnTo>
                <a:lnTo>
                  <a:pt x="2642936" y="6920"/>
                </a:lnTo>
                <a:lnTo>
                  <a:pt x="2646736" y="8651"/>
                </a:lnTo>
                <a:lnTo>
                  <a:pt x="2650114" y="10381"/>
                </a:lnTo>
                <a:lnTo>
                  <a:pt x="2653166" y="12111"/>
                </a:lnTo>
                <a:lnTo>
                  <a:pt x="265595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78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562752" y="2436908"/>
            <a:ext cx="571500" cy="571500"/>
          </a:xfrm>
          <a:prstGeom prst="ellipse">
            <a:avLst/>
          </a:prstGeom>
          <a:solidFill>
            <a:srgbClr val="0078D4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038999" y="1285726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78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377386" y="2436908"/>
            <a:ext cx="571500" cy="571500"/>
          </a:xfrm>
          <a:prstGeom prst="ellipse">
            <a:avLst/>
          </a:prstGeom>
          <a:solidFill>
            <a:srgbClr val="0078D4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09575" y="2913162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78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747963" y="4064344"/>
            <a:ext cx="571500" cy="571500"/>
          </a:xfrm>
          <a:prstGeom prst="ellipse">
            <a:avLst/>
          </a:prstGeom>
          <a:solidFill>
            <a:srgbClr val="0078D4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224213" y="2913162"/>
            <a:ext cx="2695423" cy="13841"/>
          </a:xfrm>
          <a:custGeom>
            <a:avLst/>
            <a:gdLst/>
            <a:ahLst/>
            <a:cxnLst/>
            <a:rect l="l" t="t" r="r" b="b"/>
            <a:pathLst>
              <a:path w="2695423" h="13841">
                <a:moveTo>
                  <a:pt x="86360" y="0"/>
                </a:moveTo>
                <a:lnTo>
                  <a:pt x="2609063" y="0"/>
                </a:lnTo>
                <a:lnTo>
                  <a:pt x="2626262" y="1730"/>
                </a:lnTo>
                <a:lnTo>
                  <a:pt x="2633263" y="3460"/>
                </a:lnTo>
                <a:lnTo>
                  <a:pt x="2638551" y="5190"/>
                </a:lnTo>
                <a:lnTo>
                  <a:pt x="2642936" y="6920"/>
                </a:lnTo>
                <a:lnTo>
                  <a:pt x="2646736" y="8651"/>
                </a:lnTo>
                <a:lnTo>
                  <a:pt x="2650114" y="10381"/>
                </a:lnTo>
                <a:lnTo>
                  <a:pt x="2653166" y="12111"/>
                </a:lnTo>
                <a:lnTo>
                  <a:pt x="265595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78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562752" y="4064344"/>
            <a:ext cx="571500" cy="571500"/>
          </a:xfrm>
          <a:prstGeom prst="ellipse">
            <a:avLst/>
          </a:prstGeom>
          <a:solidFill>
            <a:srgbClr val="0078D4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038999" y="2913162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78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8377386" y="4064344"/>
            <a:ext cx="571500" cy="571500"/>
          </a:xfrm>
          <a:prstGeom prst="ellipse">
            <a:avLst/>
          </a:prstGeom>
          <a:solidFill>
            <a:srgbClr val="0078D4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00050" y="348332"/>
            <a:ext cx="171450" cy="13841"/>
          </a:xfrm>
          <a:prstGeom prst="roundRect">
            <a:avLst>
              <a:gd name="adj" fmla="val 100932"/>
            </a:avLst>
          </a:prstGeom>
          <a:solidFill>
            <a:srgbClr val="0078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28650" y="285750"/>
            <a:ext cx="124682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2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730" dirty="0"/>
          </a:p>
        </p:txBody>
      </p:sp>
      <p:sp>
        <p:nvSpPr>
          <p:cNvPr id="20" name="Text 16"/>
          <p:cNvSpPr/>
          <p:nvPr/>
        </p:nvSpPr>
        <p:spPr>
          <a:xfrm>
            <a:off x="400050" y="467916"/>
            <a:ext cx="8927973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360" kern="0" spc="-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Home for </a:t>
            </a:r>
            <a:r>
              <a:rPr lang="en-US" sz="236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</a:t>
            </a:r>
            <a:endParaRPr lang="en-US" sz="2360" dirty="0"/>
          </a:p>
        </p:txBody>
      </p:sp>
      <p:sp>
        <p:nvSpPr>
          <p:cNvPr id="21" name="Text 17"/>
          <p:cNvSpPr/>
          <p:nvPr/>
        </p:nvSpPr>
        <p:spPr>
          <a:xfrm>
            <a:off x="400050" y="840730"/>
            <a:ext cx="91782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one bill, one platform — six powerful workloads.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00050" y="1083171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78D4"/>
              </a:gs>
              <a:gs pos="100000">
                <a:srgbClr val="0078D4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00050" y="1276201"/>
            <a:ext cx="2714327" cy="1527125"/>
          </a:xfrm>
          <a:prstGeom prst="roundRect">
            <a:avLst>
              <a:gd name="adj" fmla="val 5655"/>
            </a:avLst>
          </a:prstGeom>
          <a:solidFill>
            <a:srgbClr val="1A3F5C"/>
          </a:solidFill>
          <a:ln w="9525">
            <a:solidFill>
              <a:srgbClr val="0078D4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67035" y="1443186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0078D4">
              <a:alpha val="15000"/>
            </a:srgbClr>
          </a:solidFill>
          <a:ln w="9525">
            <a:solidFill>
              <a:srgbClr val="0078D4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982" y="1545134"/>
            <a:ext cx="139005" cy="13900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24235" y="1443186"/>
            <a:ext cx="21154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01</a:t>
            </a:r>
            <a:endParaRPr lang="en-US" sz="560" dirty="0"/>
          </a:p>
        </p:txBody>
      </p:sp>
      <p:sp>
        <p:nvSpPr>
          <p:cNvPr id="27" name="Text 22"/>
          <p:cNvSpPr/>
          <p:nvPr/>
        </p:nvSpPr>
        <p:spPr>
          <a:xfrm>
            <a:off x="1024235" y="1579066"/>
            <a:ext cx="211547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Engineering</a:t>
            </a:r>
            <a:endParaRPr lang="en-US" sz="960" dirty="0"/>
          </a:p>
        </p:txBody>
      </p:sp>
      <p:sp>
        <p:nvSpPr>
          <p:cNvPr id="28" name="Text 23"/>
          <p:cNvSpPr/>
          <p:nvPr/>
        </p:nvSpPr>
        <p:spPr>
          <a:xfrm>
            <a:off x="1024235" y="1760637"/>
            <a:ext cx="1961620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pipelines and transform raw data into clean, structured insights.</a:t>
            </a:r>
            <a:endParaRPr lang="en-US" sz="760" dirty="0"/>
          </a:p>
        </p:txBody>
      </p:sp>
      <p:sp>
        <p:nvSpPr>
          <p:cNvPr id="29" name="Text 24"/>
          <p:cNvSpPr/>
          <p:nvPr/>
        </p:nvSpPr>
        <p:spPr>
          <a:xfrm>
            <a:off x="3214688" y="1276201"/>
            <a:ext cx="2714476" cy="1527125"/>
          </a:xfrm>
          <a:prstGeom prst="roundRect">
            <a:avLst>
              <a:gd name="adj" fmla="val 5655"/>
            </a:avLst>
          </a:prstGeom>
          <a:solidFill>
            <a:srgbClr val="1A3F5C"/>
          </a:solidFill>
          <a:ln w="9525">
            <a:solidFill>
              <a:srgbClr val="0078D4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3381673" y="1443186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0078D4">
              <a:alpha val="15000"/>
            </a:srgbClr>
          </a:solidFill>
          <a:ln w="9525">
            <a:solidFill>
              <a:srgbClr val="0078D4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3620" y="1545134"/>
            <a:ext cx="139005" cy="13900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838873" y="1443186"/>
            <a:ext cx="211563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02</a:t>
            </a:r>
            <a:endParaRPr lang="en-US" sz="560" dirty="0"/>
          </a:p>
        </p:txBody>
      </p:sp>
      <p:sp>
        <p:nvSpPr>
          <p:cNvPr id="33" name="Text 27"/>
          <p:cNvSpPr/>
          <p:nvPr/>
        </p:nvSpPr>
        <p:spPr>
          <a:xfrm>
            <a:off x="3838873" y="1579066"/>
            <a:ext cx="211563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Factory</a:t>
            </a:r>
            <a:endParaRPr lang="en-US" sz="960" dirty="0"/>
          </a:p>
        </p:txBody>
      </p:sp>
      <p:sp>
        <p:nvSpPr>
          <p:cNvPr id="34" name="Text 28"/>
          <p:cNvSpPr/>
          <p:nvPr/>
        </p:nvSpPr>
        <p:spPr>
          <a:xfrm>
            <a:off x="3838873" y="1760637"/>
            <a:ext cx="196177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data workflows — connect hundreds of sources without complex code.</a:t>
            </a:r>
            <a:endParaRPr lang="en-US" sz="760" dirty="0"/>
          </a:p>
        </p:txBody>
      </p:sp>
      <p:sp>
        <p:nvSpPr>
          <p:cNvPr id="35" name="Text 29"/>
          <p:cNvSpPr/>
          <p:nvPr/>
        </p:nvSpPr>
        <p:spPr>
          <a:xfrm>
            <a:off x="6029474" y="1276201"/>
            <a:ext cx="2714327" cy="1527125"/>
          </a:xfrm>
          <a:prstGeom prst="roundRect">
            <a:avLst>
              <a:gd name="adj" fmla="val 5655"/>
            </a:avLst>
          </a:prstGeom>
          <a:solidFill>
            <a:srgbClr val="1A3F5C"/>
          </a:solidFill>
          <a:ln w="9525">
            <a:solidFill>
              <a:srgbClr val="0078D4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6196459" y="1443186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0078D4">
              <a:alpha val="15000"/>
            </a:srgbClr>
          </a:solidFill>
          <a:ln w="9525">
            <a:solidFill>
              <a:srgbClr val="0078D4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8406" y="1545134"/>
            <a:ext cx="139005" cy="13900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653659" y="1443186"/>
            <a:ext cx="21154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03</a:t>
            </a:r>
            <a:endParaRPr lang="en-US" sz="560" dirty="0"/>
          </a:p>
        </p:txBody>
      </p:sp>
      <p:sp>
        <p:nvSpPr>
          <p:cNvPr id="39" name="Text 32"/>
          <p:cNvSpPr/>
          <p:nvPr/>
        </p:nvSpPr>
        <p:spPr>
          <a:xfrm>
            <a:off x="6653659" y="1579066"/>
            <a:ext cx="211547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Intelligence</a:t>
            </a:r>
            <a:endParaRPr lang="en-US" sz="960" dirty="0"/>
          </a:p>
        </p:txBody>
      </p:sp>
      <p:sp>
        <p:nvSpPr>
          <p:cNvPr id="40" name="Text 33"/>
          <p:cNvSpPr/>
          <p:nvPr/>
        </p:nvSpPr>
        <p:spPr>
          <a:xfrm>
            <a:off x="6653659" y="1760637"/>
            <a:ext cx="1961620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data and KQL queries — answers in seconds, not hours.</a:t>
            </a:r>
            <a:endParaRPr lang="en-US" sz="760" dirty="0"/>
          </a:p>
        </p:txBody>
      </p:sp>
      <p:sp>
        <p:nvSpPr>
          <p:cNvPr id="41" name="Text 34"/>
          <p:cNvSpPr/>
          <p:nvPr/>
        </p:nvSpPr>
        <p:spPr>
          <a:xfrm>
            <a:off x="400050" y="2903637"/>
            <a:ext cx="2714327" cy="1527125"/>
          </a:xfrm>
          <a:prstGeom prst="roundRect">
            <a:avLst>
              <a:gd name="adj" fmla="val 5655"/>
            </a:avLst>
          </a:prstGeom>
          <a:solidFill>
            <a:srgbClr val="1A3F5C"/>
          </a:solidFill>
          <a:ln w="9525">
            <a:solidFill>
              <a:srgbClr val="0078D4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567035" y="3070622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0078D4">
              <a:alpha val="15000"/>
            </a:srgbClr>
          </a:solidFill>
          <a:ln w="9525">
            <a:solidFill>
              <a:srgbClr val="0078D4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982" y="3172569"/>
            <a:ext cx="139005" cy="139005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24235" y="3070622"/>
            <a:ext cx="21154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04</a:t>
            </a:r>
            <a:endParaRPr lang="en-US" sz="560" dirty="0"/>
          </a:p>
        </p:txBody>
      </p:sp>
      <p:sp>
        <p:nvSpPr>
          <p:cNvPr id="45" name="Text 37"/>
          <p:cNvSpPr/>
          <p:nvPr/>
        </p:nvSpPr>
        <p:spPr>
          <a:xfrm>
            <a:off x="1024235" y="3206502"/>
            <a:ext cx="211547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Science</a:t>
            </a:r>
            <a:endParaRPr lang="en-US" sz="960" dirty="0"/>
          </a:p>
        </p:txBody>
      </p:sp>
      <p:sp>
        <p:nvSpPr>
          <p:cNvPr id="46" name="Text 38"/>
          <p:cNvSpPr/>
          <p:nvPr/>
        </p:nvSpPr>
        <p:spPr>
          <a:xfrm>
            <a:off x="1024235" y="3388072"/>
            <a:ext cx="1961620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machine learning models trained on the same shared OneLake data.</a:t>
            </a:r>
            <a:endParaRPr lang="en-US" sz="760" dirty="0"/>
          </a:p>
        </p:txBody>
      </p:sp>
      <p:sp>
        <p:nvSpPr>
          <p:cNvPr id="47" name="Text 39"/>
          <p:cNvSpPr/>
          <p:nvPr/>
        </p:nvSpPr>
        <p:spPr>
          <a:xfrm>
            <a:off x="3214688" y="2903637"/>
            <a:ext cx="2714476" cy="1527125"/>
          </a:xfrm>
          <a:prstGeom prst="roundRect">
            <a:avLst>
              <a:gd name="adj" fmla="val 5655"/>
            </a:avLst>
          </a:prstGeom>
          <a:solidFill>
            <a:srgbClr val="1A3F5C"/>
          </a:solidFill>
          <a:ln w="9525">
            <a:solidFill>
              <a:srgbClr val="0078D4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3381673" y="3070622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0078D4">
              <a:alpha val="15000"/>
            </a:srgbClr>
          </a:solidFill>
          <a:ln w="9525">
            <a:solidFill>
              <a:srgbClr val="0078D4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83620" y="3172569"/>
            <a:ext cx="139005" cy="13900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3838873" y="3070622"/>
            <a:ext cx="211563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05</a:t>
            </a:r>
            <a:endParaRPr lang="en-US" sz="560" dirty="0"/>
          </a:p>
        </p:txBody>
      </p:sp>
      <p:sp>
        <p:nvSpPr>
          <p:cNvPr id="51" name="Text 42"/>
          <p:cNvSpPr/>
          <p:nvPr/>
        </p:nvSpPr>
        <p:spPr>
          <a:xfrm>
            <a:off x="3838873" y="3206502"/>
            <a:ext cx="211563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Warehouse</a:t>
            </a:r>
            <a:endParaRPr lang="en-US" sz="960" dirty="0"/>
          </a:p>
        </p:txBody>
      </p:sp>
      <p:sp>
        <p:nvSpPr>
          <p:cNvPr id="52" name="Text 43"/>
          <p:cNvSpPr/>
          <p:nvPr/>
        </p:nvSpPr>
        <p:spPr>
          <a:xfrm>
            <a:off x="3838873" y="3388072"/>
            <a:ext cx="196177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SQL queries at enterprise scale — organized, labeled, always ready.</a:t>
            </a:r>
            <a:endParaRPr lang="en-US" sz="760" dirty="0"/>
          </a:p>
        </p:txBody>
      </p:sp>
      <p:sp>
        <p:nvSpPr>
          <p:cNvPr id="53" name="Text 44"/>
          <p:cNvSpPr/>
          <p:nvPr/>
        </p:nvSpPr>
        <p:spPr>
          <a:xfrm>
            <a:off x="6029474" y="2903637"/>
            <a:ext cx="2714327" cy="1527125"/>
          </a:xfrm>
          <a:prstGeom prst="roundRect">
            <a:avLst>
              <a:gd name="adj" fmla="val 5655"/>
            </a:avLst>
          </a:prstGeom>
          <a:solidFill>
            <a:srgbClr val="1A3F5C"/>
          </a:solidFill>
          <a:ln w="9525">
            <a:solidFill>
              <a:srgbClr val="0078D4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6196459" y="3070622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0078D4">
              <a:alpha val="15000"/>
            </a:srgbClr>
          </a:solidFill>
          <a:ln w="9525">
            <a:solidFill>
              <a:srgbClr val="0078D4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8406" y="3172569"/>
            <a:ext cx="139005" cy="139005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653659" y="3070622"/>
            <a:ext cx="21154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06</a:t>
            </a:r>
            <a:endParaRPr lang="en-US" sz="560" dirty="0"/>
          </a:p>
        </p:txBody>
      </p:sp>
      <p:sp>
        <p:nvSpPr>
          <p:cNvPr id="57" name="Text 47"/>
          <p:cNvSpPr/>
          <p:nvPr/>
        </p:nvSpPr>
        <p:spPr>
          <a:xfrm>
            <a:off x="6653659" y="3206502"/>
            <a:ext cx="211547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 BI</a:t>
            </a:r>
            <a:endParaRPr lang="en-US" sz="960" dirty="0"/>
          </a:p>
        </p:txBody>
      </p:sp>
      <p:sp>
        <p:nvSpPr>
          <p:cNvPr id="58" name="Text 48"/>
          <p:cNvSpPr/>
          <p:nvPr/>
        </p:nvSpPr>
        <p:spPr>
          <a:xfrm>
            <a:off x="6653659" y="3388072"/>
            <a:ext cx="1961620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and reports for everyone — no data expertise required.</a:t>
            </a:r>
            <a:endParaRPr lang="en-US" sz="760" dirty="0"/>
          </a:p>
        </p:txBody>
      </p:sp>
      <p:sp>
        <p:nvSpPr>
          <p:cNvPr id="59" name="Text 49"/>
          <p:cNvSpPr/>
          <p:nvPr/>
        </p:nvSpPr>
        <p:spPr>
          <a:xfrm>
            <a:off x="400050" y="4545062"/>
            <a:ext cx="8343900" cy="36983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0078D4">
                  <a:alpha val="22000"/>
                </a:srgbClr>
              </a:gs>
              <a:gs pos="60000">
                <a:srgbClr val="0078D4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9525">
            <a:solidFill>
              <a:srgbClr val="0078D4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0"/>
          <p:cNvSpPr/>
          <p:nvPr/>
        </p:nvSpPr>
        <p:spPr>
          <a:xfrm>
            <a:off x="610195" y="4708327"/>
            <a:ext cx="43160" cy="43160"/>
          </a:xfrm>
          <a:prstGeom prst="ellipse">
            <a:avLst/>
          </a:prstGeom>
          <a:solidFill>
            <a:srgbClr val="0078D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1"/>
          <p:cNvSpPr/>
          <p:nvPr/>
        </p:nvSpPr>
        <p:spPr>
          <a:xfrm>
            <a:off x="696516" y="4708327"/>
            <a:ext cx="43160" cy="43160"/>
          </a:xfrm>
          <a:prstGeom prst="ellipse">
            <a:avLst/>
          </a:prstGeom>
          <a:solidFill>
            <a:srgbClr val="0078D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782836" y="4708327"/>
            <a:ext cx="43160" cy="43160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3"/>
          <p:cNvSpPr/>
          <p:nvPr/>
        </p:nvSpPr>
        <p:spPr>
          <a:xfrm>
            <a:off x="940296" y="4647158"/>
            <a:ext cx="2559784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b="1" kern="0" spc="1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tools. </a:t>
            </a:r>
            <a:r>
              <a:rPr lang="en-US" sz="870" b="1" kern="0" spc="17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teams.</a:t>
            </a:r>
            <a:r>
              <a:rPr lang="en-US" sz="870" b="1" kern="0" spc="1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data. </a:t>
            </a:r>
            <a:r>
              <a:rPr lang="en-US" sz="870" b="1" kern="0" spc="17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</a:t>
            </a:r>
            <a:endParaRPr lang="en-US" sz="870" dirty="0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95278" y="4663538"/>
            <a:ext cx="132588" cy="132588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572524" y="4665166"/>
            <a:ext cx="10574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9966" y="0"/>
            <a:ext cx="2714034" cy="2428237"/>
          </a:xfrm>
          <a:prstGeom prst="ellipse">
            <a:avLst/>
          </a:prstGeom>
          <a:noFill/>
          <a:ln w="9525">
            <a:solidFill>
              <a:srgbClr val="0078D4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9142" y="0"/>
            <a:ext cx="2214858" cy="1929086"/>
          </a:xfrm>
          <a:prstGeom prst="ellipse">
            <a:avLst/>
          </a:prstGeom>
          <a:noFill/>
          <a:ln w="9525">
            <a:solidFill>
              <a:srgbClr val="0078D4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9500" y="0"/>
            <a:ext cx="1714500" cy="1428750"/>
          </a:xfrm>
          <a:prstGeom prst="ellipse">
            <a:avLst/>
          </a:prstGeom>
          <a:noFill/>
          <a:ln w="9525">
            <a:solidFill>
              <a:srgbClr val="0078D4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785740"/>
            <a:ext cx="1570990" cy="1357760"/>
          </a:xfrm>
          <a:prstGeom prst="ellipse">
            <a:avLst/>
          </a:prstGeom>
          <a:noFill/>
          <a:ln w="9525">
            <a:solidFill>
              <a:srgbClr val="0078D4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286250"/>
            <a:ext cx="1071858" cy="857250"/>
          </a:xfrm>
          <a:prstGeom prst="ellipse">
            <a:avLst/>
          </a:prstGeom>
          <a:noFill/>
          <a:ln w="9525">
            <a:solidFill>
              <a:srgbClr val="0078D4">
                <a:alpha val="9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15350" y="429220"/>
            <a:ext cx="57150" cy="57150"/>
          </a:xfrm>
          <a:prstGeom prst="ellipse">
            <a:avLst/>
          </a:prstGeom>
          <a:solidFill>
            <a:srgbClr val="0078D4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07859" y="786110"/>
            <a:ext cx="35421" cy="35421"/>
          </a:xfrm>
          <a:prstGeom prst="ellipse">
            <a:avLst/>
          </a:prstGeom>
          <a:solidFill>
            <a:srgbClr val="0078D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4970" y="4385370"/>
            <a:ext cx="43160" cy="43160"/>
          </a:xfrm>
          <a:prstGeom prst="ellipse">
            <a:avLst/>
          </a:prstGeom>
          <a:solidFill>
            <a:srgbClr val="0078D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20000" t="90000" r="80000" b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78D4">
                  <a:alpha val="5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90000" t="10000" r="10000" b="9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571500"/>
            <a:ext cx="29170" cy="4000500"/>
          </a:xfrm>
          <a:prstGeom prst="roundRect">
            <a:avLst>
              <a:gd name="adj" fmla="val 100137"/>
            </a:avLst>
          </a:prstGeom>
          <a:gradFill rotWithShape="1">
            <a:gsLst>
              <a:gs pos="0">
                <a:srgbClr val="0078D4"/>
              </a:gs>
              <a:gs pos="100000">
                <a:srgbClr val="0078D4">
                  <a:alpha val="1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50000">
                <a:srgbClr val="00B4D8"/>
              </a:gs>
              <a:gs pos="100000">
                <a:srgbClr val="0078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0670" y="372070"/>
            <a:ext cx="257770" cy="257770"/>
          </a:xfrm>
          <a:prstGeom prst="roundRect">
            <a:avLst>
              <a:gd name="adj" fmla="val 22171"/>
            </a:avLst>
          </a:prstGeom>
          <a:gradFill rotWithShape="1">
            <a:gsLst>
              <a:gs pos="0">
                <a:srgbClr val="0078D4"/>
              </a:gs>
              <a:gs pos="100000">
                <a:srgbClr val="00B4D8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187" y="434587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44761" y="431453"/>
            <a:ext cx="23615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3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IN SUMMARY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943570" y="659011"/>
            <a:ext cx="8224105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140" kern="0" spc="86" dirty="0">
                <a:solidFill>
                  <a:srgbClr val="0D21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r>
              <a:rPr lang="en-US" sz="2140" b="1" kern="0" spc="86" dirty="0">
                <a:solidFill>
                  <a:srgbClr val="0078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30-SECOND</a:t>
            </a:r>
            <a:r>
              <a:rPr lang="en-US" sz="2140" kern="0" spc="86" dirty="0">
                <a:solidFill>
                  <a:srgbClr val="0D21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VERSION</a:t>
            </a:r>
            <a:endParaRPr lang="en-US" sz="2140" dirty="0"/>
          </a:p>
        </p:txBody>
      </p:sp>
      <p:sp>
        <p:nvSpPr>
          <p:cNvPr id="18" name="Text 15"/>
          <p:cNvSpPr/>
          <p:nvPr/>
        </p:nvSpPr>
        <p:spPr>
          <a:xfrm>
            <a:off x="943570" y="1955155"/>
            <a:ext cx="7686080" cy="958541"/>
          </a:xfrm>
          <a:prstGeom prst="rect">
            <a:avLst/>
          </a:prstGeom>
          <a:solidFill>
            <a:srgbClr val="FFFFFF"/>
          </a:solidFill>
          <a:ln/>
          <a:effectLst>
            <a:outerShdw blurRad="228600" dist="29210" dir="5400000" algn="bl" rotWithShape="0">
              <a:srgbClr val="0078D4">
                <a:alpha val="10000"/>
              </a:srgbClr>
            </a:outerShdw>
          </a:effectLst>
        </p:spPr>
        <p:txBody>
          <a:bodyPr wrap="square" lIns="200660" tIns="157480" rIns="228600" bIns="157480" rtlCol="0" anchor="t"/>
          <a:lstStyle/>
          <a:p>
            <a:pPr marL="0" indent="0" algn="l">
              <a:buNone/>
            </a:pPr>
            <a:r>
              <a:rPr lang="en-US" sz="4050" dirty="0">
                <a:solidFill>
                  <a:srgbClr val="007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4050" dirty="0"/>
          </a:p>
          <a:p>
            <a:pPr marL="0" indent="0" algn="l">
              <a:buNone/>
            </a:pPr>
            <a:r>
              <a:rPr lang="en-US" sz="980" b="1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"Microsoft Fabric is like a complete data headquarters. It collects information from anywhere, keeps it all in one shared location, cleans and organizes it automatically, shows results on a live dashboard, and even predicts future trends — all in one place, one login, one bill from Microsoft."</a:t>
            </a:r>
            <a:endParaRPr lang="en-US" sz="4050" dirty="0"/>
          </a:p>
        </p:txBody>
      </p:sp>
      <p:sp>
        <p:nvSpPr>
          <p:cNvPr id="19" name="Text 16"/>
          <p:cNvSpPr/>
          <p:nvPr/>
        </p:nvSpPr>
        <p:spPr>
          <a:xfrm>
            <a:off x="943570" y="1955155"/>
            <a:ext cx="28575" cy="930622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943570" y="3774132"/>
            <a:ext cx="3310830" cy="697557"/>
          </a:xfrm>
          <a:prstGeom prst="roundRect">
            <a:avLst>
              <a:gd name="adj" fmla="val 12380"/>
            </a:avLst>
          </a:prstGeom>
          <a:solidFill>
            <a:srgbClr val="FFFFFF"/>
          </a:solidFill>
          <a:ln w="9525">
            <a:solidFill>
              <a:srgbClr val="0078D4">
                <a:alpha val="15000"/>
              </a:srgbClr>
            </a:solidFill>
          </a:ln>
          <a:effectLst>
            <a:outerShdw blurRad="114300" dist="13970" dir="5400000" algn="bl" rotWithShape="0">
              <a:srgbClr val="0078D4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124545" y="3951387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0D213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6493" y="4053334"/>
            <a:ext cx="139005" cy="13900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81745" y="3897957"/>
            <a:ext cx="155099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68" dirty="0">
                <a:solidFill>
                  <a:srgbClr val="3A60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SEE THE PROJECTS</a:t>
            </a:r>
            <a:endParaRPr lang="en-US" sz="680" dirty="0"/>
          </a:p>
        </p:txBody>
      </p:sp>
      <p:sp>
        <p:nvSpPr>
          <p:cNvPr id="24" name="Text 20"/>
          <p:cNvSpPr/>
          <p:nvPr/>
        </p:nvSpPr>
        <p:spPr>
          <a:xfrm>
            <a:off x="1581745" y="4041279"/>
            <a:ext cx="155099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github.com/svmalapaka</a:t>
            </a:r>
            <a:endParaRPr lang="en-US" sz="840" dirty="0"/>
          </a:p>
        </p:txBody>
      </p:sp>
      <p:sp>
        <p:nvSpPr>
          <p:cNvPr id="25" name="Text 21"/>
          <p:cNvSpPr/>
          <p:nvPr/>
        </p:nvSpPr>
        <p:spPr>
          <a:xfrm>
            <a:off x="1581745" y="4208859"/>
            <a:ext cx="15509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code, notebooks &amp; demos</a:t>
            </a:r>
            <a:endParaRPr lang="en-US" sz="730" dirty="0"/>
          </a:p>
        </p:txBody>
      </p:sp>
      <p:sp>
        <p:nvSpPr>
          <p:cNvPr id="26" name="Text 22"/>
          <p:cNvSpPr/>
          <p:nvPr/>
        </p:nvSpPr>
        <p:spPr>
          <a:xfrm>
            <a:off x="4368701" y="3908227"/>
            <a:ext cx="7590" cy="429220"/>
          </a:xfrm>
          <a:prstGeom prst="rect">
            <a:avLst/>
          </a:prstGeom>
          <a:solidFill>
            <a:srgbClr val="0078D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490591" y="3774132"/>
            <a:ext cx="3310979" cy="697557"/>
          </a:xfrm>
          <a:prstGeom prst="roundRect">
            <a:avLst>
              <a:gd name="adj" fmla="val 12380"/>
            </a:avLst>
          </a:prstGeom>
          <a:solidFill>
            <a:srgbClr val="FFFFFF"/>
          </a:solidFill>
          <a:ln w="9525">
            <a:solidFill>
              <a:srgbClr val="0078D4">
                <a:alpha val="15000"/>
              </a:srgbClr>
            </a:solidFill>
          </a:ln>
          <a:effectLst>
            <a:outerShdw blurRad="114300" dist="13970" dir="5400000" algn="bl" rotWithShape="0">
              <a:srgbClr val="0078D4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671566" y="3951387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0A66C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3513" y="4053334"/>
            <a:ext cx="139005" cy="13900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128766" y="3897957"/>
            <a:ext cx="12795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68" dirty="0">
                <a:solidFill>
                  <a:srgbClr val="3A60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 ON LINKEDIN</a:t>
            </a:r>
            <a:endParaRPr lang="en-US" sz="680" dirty="0"/>
          </a:p>
        </p:txBody>
      </p:sp>
      <p:sp>
        <p:nvSpPr>
          <p:cNvPr id="31" name="Text 26"/>
          <p:cNvSpPr/>
          <p:nvPr/>
        </p:nvSpPr>
        <p:spPr>
          <a:xfrm>
            <a:off x="5128766" y="4041279"/>
            <a:ext cx="127956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Sastry Malapaka</a:t>
            </a:r>
            <a:endParaRPr lang="en-US" sz="840" dirty="0"/>
          </a:p>
        </p:txBody>
      </p:sp>
      <p:sp>
        <p:nvSpPr>
          <p:cNvPr id="32" name="Text 27"/>
          <p:cNvSpPr/>
          <p:nvPr/>
        </p:nvSpPr>
        <p:spPr>
          <a:xfrm>
            <a:off x="5128766" y="4208859"/>
            <a:ext cx="127956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data, Fabric &amp; AI</a:t>
            </a:r>
            <a:endParaRPr lang="en-US" sz="730" dirty="0"/>
          </a:p>
        </p:txBody>
      </p:sp>
      <p:sp>
        <p:nvSpPr>
          <p:cNvPr id="33" name="Text 28"/>
          <p:cNvSpPr/>
          <p:nvPr/>
        </p:nvSpPr>
        <p:spPr>
          <a:xfrm>
            <a:off x="0" y="4843909"/>
            <a:ext cx="9144000" cy="299591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2571452" y="4928890"/>
            <a:ext cx="10777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</a:t>
            </a:r>
            <a:endParaRPr lang="en-US" sz="680" dirty="0"/>
          </a:p>
        </p:txBody>
      </p:sp>
      <p:sp>
        <p:nvSpPr>
          <p:cNvPr id="35" name="Text 30"/>
          <p:cNvSpPr/>
          <p:nvPr/>
        </p:nvSpPr>
        <p:spPr>
          <a:xfrm>
            <a:off x="3551188" y="4982914"/>
            <a:ext cx="21580" cy="21580"/>
          </a:xfrm>
          <a:prstGeom prst="ellipse">
            <a:avLst/>
          </a:prstGeom>
          <a:solidFill>
            <a:srgbClr val="0078D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3572768" y="4928890"/>
            <a:ext cx="13887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680" dirty="0"/>
          </a:p>
        </p:txBody>
      </p:sp>
      <p:sp>
        <p:nvSpPr>
          <p:cNvPr id="37" name="Text 32"/>
          <p:cNvSpPr/>
          <p:nvPr/>
        </p:nvSpPr>
        <p:spPr>
          <a:xfrm>
            <a:off x="4835277" y="4982914"/>
            <a:ext cx="21580" cy="21580"/>
          </a:xfrm>
          <a:prstGeom prst="ellipse">
            <a:avLst/>
          </a:prstGeom>
          <a:solidFill>
            <a:srgbClr val="0078D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856857" y="4928890"/>
            <a:ext cx="11359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680" dirty="0"/>
          </a:p>
        </p:txBody>
      </p:sp>
      <p:sp>
        <p:nvSpPr>
          <p:cNvPr id="39" name="Text 34"/>
          <p:cNvSpPr/>
          <p:nvPr/>
        </p:nvSpPr>
        <p:spPr>
          <a:xfrm>
            <a:off x="5889575" y="4982914"/>
            <a:ext cx="21580" cy="21580"/>
          </a:xfrm>
          <a:prstGeom prst="ellipse">
            <a:avLst/>
          </a:prstGeom>
          <a:solidFill>
            <a:srgbClr val="0078D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5911155" y="4928890"/>
            <a:ext cx="72736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F0F4F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1306</Words>
  <Application>Microsoft Office PowerPoint</Application>
  <PresentationFormat>On-screen Show (16:9)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Sastry Malapaka</cp:lastModifiedBy>
  <cp:revision>2</cp:revision>
  <dcterms:created xsi:type="dcterms:W3CDTF">2026-09-15T21:40:27Z</dcterms:created>
  <dcterms:modified xsi:type="dcterms:W3CDTF">2026-09-15T22:45:56Z</dcterms:modified>
</cp:coreProperties>
</file>